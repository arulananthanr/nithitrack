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058FBF-E08C-B2F2-A489-D4593ACC692C}">
          <p14:sldIdLst>
            <p14:sldId id="256"/>
          </p14:sldIdLst>
        </p14:section>
        <p14:section name="Idea" id="{5210880F-D86E-1963-BE9A-ED79A245238F}">
          <p14:sldIdLst>
            <p14:sldId id="257"/>
          </p14:sldIdLst>
        </p14:section>
        <p14:section name="Approach" id="{131C0FD2-F355-E52E-8F0B-117BCEBF9F05}">
          <p14:sldIdLst>
            <p14:sldId id="258"/>
          </p14:sldIdLst>
        </p14:section>
        <p14:section name="Feasibility" id="{0677D74B-90A5-B4F0-45E9-84E1DDBB3B0A}">
          <p14:sldIdLst>
            <p14:sldId id="259"/>
          </p14:sldIdLst>
        </p14:section>
        <p14:section name="Impact" id="{4A0A08F3-83DF-8610-DDB9-A716F126AED1}">
          <p14:sldIdLst>
            <p14:sldId id="260"/>
          </p14:sldIdLst>
        </p14:section>
        <p14:section name="References" id="{E56BB491-68F5-794C-EAAF-27C06A3EB99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ebb43d6410cc87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4T10:08:10.123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5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0" y="6355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20040" y="228600"/>
            <a:ext cx="1325880" cy="7772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Team Name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6.jpeg"/><Relationship Id="rId3" Type="http://schemas.openxmlformats.org/officeDocument/2006/relationships/image" Target="../media/image16.png"/><Relationship Id="rId21" Type="http://schemas.openxmlformats.org/officeDocument/2006/relationships/image" Target="../media/image4.png"/><Relationship Id="rId7" Type="http://schemas.openxmlformats.org/officeDocument/2006/relationships/image" Target="../media/image20.png"/><Relationship Id="rId12" Type="http://schemas.openxmlformats.org/officeDocument/2006/relationships/image" Target="../media/image5.png"/><Relationship Id="rId17" Type="http://schemas.openxmlformats.org/officeDocument/2006/relationships/image" Target="../media/image29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4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3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22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8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omments" Target="../comments/comment1.xml"/><Relationship Id="rId5" Type="http://schemas.openxmlformats.org/officeDocument/2006/relationships/image" Target="../media/image35.pn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tx2"/>
                </a:solidFill>
              </a:rPr>
              <a:t>SMART INDIA HACKATHON 2026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Problem Statement ID – </a:t>
            </a:r>
            <a:r>
              <a:rPr lang="en-US" sz="1600" b="1" dirty="0">
                <a:solidFill>
                  <a:schemeClr val="accent2"/>
                </a:solidFill>
              </a:rPr>
              <a:t>SIH26265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67128"/>
            <a:ext cx="6766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Problem Statement Title - </a:t>
            </a:r>
            <a:r>
              <a:rPr lang="en-US" sz="1600" b="1" dirty="0">
                <a:solidFill>
                  <a:schemeClr val="accent2"/>
                </a:solidFill>
              </a:rPr>
              <a:t>Streamlining of Security Deposit / FDR Portal (NidhiTrack)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45536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Theme – </a:t>
            </a:r>
            <a:r>
              <a:rPr lang="en-US" sz="1600" b="1" dirty="0">
                <a:solidFill>
                  <a:schemeClr val="accent2"/>
                </a:solidFill>
              </a:rPr>
              <a:t>Smart Automation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58184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PS Category - </a:t>
            </a:r>
            <a:r>
              <a:rPr lang="en-US" sz="1600" b="1" dirty="0">
                <a:solidFill>
                  <a:schemeClr val="accent2"/>
                </a:solidFill>
              </a:rPr>
              <a:t>Software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Team ID - </a:t>
            </a:r>
            <a:r>
              <a:rPr lang="en-US" sz="1600" b="1" dirty="0">
                <a:solidFill>
                  <a:schemeClr val="accent2"/>
                </a:solidFill>
              </a:rPr>
              <a:t>[Enter from SIH portal]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83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Team Name – </a:t>
            </a:r>
            <a:r>
              <a:rPr lang="en-US" sz="1600" b="1" dirty="0">
                <a:solidFill>
                  <a:schemeClr val="accent2"/>
                </a:solidFill>
              </a:rPr>
              <a:t>Team- Innovations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749040" cy="37490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288036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0" descr="FaShield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149" y="3202229"/>
            <a:ext cx="819302" cy="8193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FaFileInvoiceDoll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2029968"/>
            <a:ext cx="512064" cy="512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789920" y="1828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2029968"/>
            <a:ext cx="512064" cy="51206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772400" y="45720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FaUnivers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4773168"/>
            <a:ext cx="512064" cy="51206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789920" y="45720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088" y="4773168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NIDHITRACK – IDEA / SOLUTION</a:t>
            </a:r>
            <a:endParaRPr lang="en-US" sz="300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143000"/>
            <a:ext cx="3291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7373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FaF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162763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Paper FDRs &amp; registers
</a:t>
            </a:r>
            <a:r>
              <a:rPr lang="en-US" sz="950" dirty="0">
                <a:solidFill>
                  <a:schemeClr val="tx1"/>
                </a:solidFill>
              </a:rPr>
              <a:t>Physical submission, manual entry, files get lost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" y="25146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26517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Fa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1" y="27724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254203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Missed maturity / expiry
</a:t>
            </a:r>
            <a:r>
              <a:rPr lang="en-US" sz="950" dirty="0">
                <a:solidFill>
                  <a:schemeClr val="tx1"/>
                </a:solidFill>
              </a:rPr>
              <a:t>Cover lapses before anyone notices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" y="34290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14" name="Shape 10"/>
          <p:cNvSpPr/>
          <p:nvPr/>
        </p:nvSpPr>
        <p:spPr>
          <a:xfrm>
            <a:off x="411480" y="3566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UserSecr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1" y="36868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1560" y="345643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Fake or tampered FDRs
</a:t>
            </a:r>
            <a:r>
              <a:rPr lang="en-US" sz="950" dirty="0">
                <a:solidFill>
                  <a:schemeClr val="tx1"/>
                </a:solidFill>
              </a:rPr>
              <a:t>Hard to verify with the bank in time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43434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18" name="Shape 13"/>
          <p:cNvSpPr/>
          <p:nvPr/>
        </p:nvSpPr>
        <p:spPr>
          <a:xfrm>
            <a:off x="411480" y="44805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mage 3" descr="FaHourglassHal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1" y="460126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51560" y="437083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Slow refunds
</a:t>
            </a:r>
            <a:r>
              <a:rPr lang="en-US" sz="950" dirty="0">
                <a:solidFill>
                  <a:schemeClr val="tx1"/>
                </a:solidFill>
              </a:rPr>
              <a:t>Vendors chase offices again and again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0040" y="52578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2" name="Shape 16"/>
          <p:cNvSpPr/>
          <p:nvPr/>
        </p:nvSpPr>
        <p:spPr>
          <a:xfrm>
            <a:off x="411480" y="53949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4" descr="FaEyeSlas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81" y="551566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51560" y="528523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No single live view
</a:t>
            </a:r>
            <a:r>
              <a:rPr lang="en-US" sz="950" dirty="0">
                <a:solidFill>
                  <a:schemeClr val="tx1"/>
                </a:solidFill>
              </a:rPr>
              <a:t>Officers cannot see status or risk at a glance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794760" y="1143000"/>
            <a:ext cx="42062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3794760" y="1143000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IDEA / SOLUTION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794760" y="1490472"/>
            <a:ext cx="4206240" cy="4773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886200" y="1554480"/>
            <a:ext cx="40233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NidhiTrack</a:t>
            </a:r>
            <a:r>
              <a:rPr lang="en-US" sz="1200" dirty="0">
                <a:solidFill>
                  <a:schemeClr val="tx1"/>
                </a:solidFill>
              </a:rPr>
              <a:t> is an end-to-end digital portal that takes every security deposit / FDR from submission to verified lien, auto-monitoring, renewal and release – one workflow, one audit trail.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3886200" y="2788920"/>
            <a:ext cx="402336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</a:rPr>
              <a:t>Key Features: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eSign submission of SD / EMD / FDR with DigiLocker documents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AI + OCR checks flag duplicate, tampered or expired FDRs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Bank / e-FDR verification and digital lien marking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Auto alerts at 90 / 60 / 30 / 7 days before maturity or expiry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Rule-based refund release on contract completion, with SLA timers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Live dashboard and tamper-proof audit trail for officers and auditors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83880" y="1143000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183880" y="1143000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HOW NIDHITRACK ADDRESSES IT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183880" y="15544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18388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Paper FDR + registers</a:t>
            </a:r>
            <a:endParaRPr lang="en-US" sz="950" dirty="0"/>
          </a:p>
        </p:txBody>
      </p:sp>
      <p:pic>
        <p:nvPicPr>
          <p:cNvPr id="34" name="Image 5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1627632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0149840" y="15544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01498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Digital + eSign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8183880" y="20116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81838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Manual bank calls</a:t>
            </a:r>
            <a:endParaRPr lang="en-US" sz="950" dirty="0"/>
          </a:p>
        </p:txBody>
      </p:sp>
      <p:pic>
        <p:nvPicPr>
          <p:cNvPr id="39" name="Image 6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084832"/>
            <a:ext cx="219456" cy="21945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10149840" y="20116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101498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API / OCR verify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8183880" y="24688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18388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Excel reminders</a:t>
            </a:r>
            <a:endParaRPr lang="en-US" sz="950" dirty="0"/>
          </a:p>
        </p:txBody>
      </p:sp>
      <p:pic>
        <p:nvPicPr>
          <p:cNvPr id="44" name="Image 7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542032"/>
            <a:ext cx="219456" cy="2194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10149840" y="24688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101498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Auto alerts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8183880" y="29260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81838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Months to refund</a:t>
            </a:r>
            <a:endParaRPr lang="en-US" sz="950" dirty="0"/>
          </a:p>
        </p:txBody>
      </p:sp>
      <p:pic>
        <p:nvPicPr>
          <p:cNvPr id="49" name="Image 8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999232"/>
            <a:ext cx="219456" cy="219456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10149840" y="29260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101498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Rule-based release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8183880" y="33832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8183880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Scattered records</a:t>
            </a:r>
            <a:endParaRPr lang="en-US" sz="950" dirty="0"/>
          </a:p>
        </p:txBody>
      </p:sp>
      <p:pic>
        <p:nvPicPr>
          <p:cNvPr id="54" name="Image 9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3456432"/>
            <a:ext cx="219456" cy="219456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0149840" y="3383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1014984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Live dashboard</a:t>
            </a:r>
            <a:endParaRPr lang="en-US" sz="950" dirty="0"/>
          </a:p>
        </p:txBody>
      </p:sp>
      <p:sp>
        <p:nvSpPr>
          <p:cNvPr id="57" name="Shape 45"/>
          <p:cNvSpPr/>
          <p:nvPr/>
        </p:nvSpPr>
        <p:spPr>
          <a:xfrm>
            <a:off x="8183880" y="3931920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8" name="Text 46"/>
          <p:cNvSpPr txBox="1"/>
          <p:nvPr/>
        </p:nvSpPr>
        <p:spPr>
          <a:xfrm>
            <a:off x="8183880" y="3931920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UNIQUE VALUE PROPOSITION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8183880" y="43982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10" descr="FaSyncA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371" y="4482755"/>
            <a:ext cx="215067" cy="215067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8641080" y="4370832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One portal, full lifecycle</a:t>
            </a:r>
            <a:endParaRPr lang="en-US" sz="1050" dirty="0"/>
          </a:p>
        </p:txBody>
      </p:sp>
      <p:sp>
        <p:nvSpPr>
          <p:cNvPr id="62" name="Shape 49"/>
          <p:cNvSpPr/>
          <p:nvPr/>
        </p:nvSpPr>
        <p:spPr>
          <a:xfrm>
            <a:off x="8183880" y="4873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3" name="Image 11" descr="FaBel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8371" y="4958243"/>
            <a:ext cx="215067" cy="215067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8641080" y="4846320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Zero lapsed cover – never miss a date</a:t>
            </a:r>
            <a:endParaRPr lang="en-US" sz="1050" dirty="0"/>
          </a:p>
        </p:txBody>
      </p:sp>
      <p:sp>
        <p:nvSpPr>
          <p:cNvPr id="65" name="Shape 51"/>
          <p:cNvSpPr/>
          <p:nvPr/>
        </p:nvSpPr>
        <p:spPr>
          <a:xfrm>
            <a:off x="8183880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mage 12" descr="FaFingerpri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8371" y="5433731"/>
            <a:ext cx="215067" cy="215067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8641080" y="5321808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Fraud-aware verification</a:t>
            </a:r>
            <a:endParaRPr lang="en-US" sz="1050" dirty="0"/>
          </a:p>
        </p:txBody>
      </p:sp>
      <p:sp>
        <p:nvSpPr>
          <p:cNvPr id="68" name="Shape 53"/>
          <p:cNvSpPr/>
          <p:nvPr/>
        </p:nvSpPr>
        <p:spPr>
          <a:xfrm>
            <a:off x="8183880" y="58247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9" name="Image 13" descr="FaSitemap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8371" y="5909219"/>
            <a:ext cx="215067" cy="215067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8641080" y="5797296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Open APIs: e-procurement, PFMS, banks</a:t>
            </a:r>
            <a:endParaRPr lang="en-US" sz="105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8162762-7A3A-4F1B-BF9E-D1655046D42D}"/>
              </a:ext>
            </a:extLst>
          </p:cNvPr>
          <p:cNvSpPr/>
          <p:nvPr/>
        </p:nvSpPr>
        <p:spPr>
          <a:xfrm>
            <a:off x="8483438" y="18288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TECHNICAL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078992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/>
              <a:t>PROTOTYPE</a:t>
            </a:r>
            <a:r>
              <a:rPr lang="en-US" sz="1300" b="1" dirty="0">
                <a:solidFill>
                  <a:schemeClr val="accent5"/>
                </a:solidFill>
              </a:rPr>
              <a:t> </a:t>
            </a:r>
            <a:r>
              <a:rPr lang="en-US" sz="1300" b="1" dirty="0"/>
              <a:t>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6517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2651760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NidhiTrack Dashboard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786384" cy="566928"/>
          </a:xfrm>
          <a:prstGeom prst="roundRect">
            <a:avLst>
              <a:gd name="adj" fmla="val 12903"/>
            </a:avLst>
          </a:prstGeom>
          <a:solidFill>
            <a:srgbClr val="2E9E4F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1828800"/>
            <a:ext cx="786384" cy="566928"/>
          </a:xfrm>
          <a:prstGeom prst="roundRect">
            <a:avLst>
              <a:gd name="adj" fmla="val 12903"/>
            </a:avLst>
          </a:prstGeom>
          <a:solidFill>
            <a:srgbClr val="E874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71016" y="182880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1828800"/>
            <a:ext cx="786384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80360"/>
            <a:ext cx="292608" cy="2743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715768"/>
            <a:ext cx="292608" cy="43891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2825496"/>
            <a:ext cx="292608" cy="32918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2606040"/>
            <a:ext cx="292608" cy="548640"/>
          </a:xfrm>
          <a:prstGeom prst="rect">
            <a:avLst/>
          </a:prstGeom>
          <a:solidFill>
            <a:srgbClr val="E8742A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2770632"/>
            <a:ext cx="292608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324612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FDR #0231 · Verified ✓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FDR #0238 · Expires in 28 days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3931920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TECH STACK: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315968"/>
            <a:ext cx="1280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2" name="Image 0" descr="FaRea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45312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85800" y="4315968"/>
            <a:ext cx="914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React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691640" y="4315968"/>
            <a:ext cx="1280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5" name="Image 1" descr="FaBo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4453128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057400" y="4315968"/>
            <a:ext cx="914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FastAPI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20040" y="4937760"/>
            <a:ext cx="1280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8" name="Image 2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5074920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85800" y="4937760"/>
            <a:ext cx="914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PostgreSQL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691640" y="4937760"/>
            <a:ext cx="1280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1" name="Image 3" descr="FaPyth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648" y="507492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057400" y="4937760"/>
            <a:ext cx="914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Python + OCR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0040" y="5559552"/>
            <a:ext cx="1280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4" name="Image 4" descr="FaDoc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5696712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85800" y="5559552"/>
            <a:ext cx="914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Docker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1691640" y="5559552"/>
            <a:ext cx="1280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7" name="Image 5" descr="FaSyncAl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5648" y="5696712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057400" y="5559552"/>
            <a:ext cx="914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Celery / Redis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2721147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/>
              <a:t>ARCHITECTURE FLOW</a:t>
            </a:r>
            <a:r>
              <a:rPr lang="en-US" sz="1300" b="1" dirty="0">
                <a:solidFill>
                  <a:schemeClr val="accent5"/>
                </a:solidFill>
              </a:rPr>
              <a:t> </a:t>
            </a:r>
            <a:r>
              <a:rPr lang="en-US" sz="1300" b="1" dirty="0"/>
              <a:t>: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3154680" y="1463040"/>
            <a:ext cx="2011680" cy="3063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154680" y="1463040"/>
            <a:ext cx="20116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315468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USERS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3246120" y="19842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4" name="Image 6" descr="FaHardHa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704" y="2084832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3749040" y="193852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Contractor / Vendor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3246120" y="26243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7" name="Image 7" descr="FaUserTi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704" y="2724912"/>
            <a:ext cx="256032" cy="25603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3749040" y="257860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Dept. Officer</a:t>
            </a:r>
            <a:endParaRPr lang="en-US" sz="950" dirty="0"/>
          </a:p>
        </p:txBody>
      </p:sp>
      <p:sp>
        <p:nvSpPr>
          <p:cNvPr id="49" name="Shape 39"/>
          <p:cNvSpPr/>
          <p:nvPr/>
        </p:nvSpPr>
        <p:spPr>
          <a:xfrm>
            <a:off x="3246120" y="32644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0" name="Image 8" descr="FaBalanceSca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6704" y="3364992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3749040" y="321868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Finance &amp; Audit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3246120" y="39044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3" name="Image 9" descr="FaUniversity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6704" y="4005072"/>
            <a:ext cx="256032" cy="25603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3749040" y="385876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Bank</a:t>
            </a:r>
            <a:endParaRPr lang="en-US" sz="950" dirty="0"/>
          </a:p>
        </p:txBody>
      </p:sp>
      <p:pic>
        <p:nvPicPr>
          <p:cNvPr id="55" name="Image 10" descr="FaArrowRigh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4648" y="2834640"/>
            <a:ext cx="201168" cy="201168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5394960" y="1463040"/>
            <a:ext cx="2011680" cy="3063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Shape 44"/>
          <p:cNvSpPr/>
          <p:nvPr/>
        </p:nvSpPr>
        <p:spPr>
          <a:xfrm>
            <a:off x="5394960" y="1463040"/>
            <a:ext cx="20116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8" name="Text 45"/>
          <p:cNvSpPr txBox="1"/>
          <p:nvPr/>
        </p:nvSpPr>
        <p:spPr>
          <a:xfrm>
            <a:off x="539496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PORTAL (React)</a:t>
            </a:r>
            <a:endParaRPr lang="en-US" sz="1000" dirty="0"/>
          </a:p>
        </p:txBody>
      </p:sp>
      <p:sp>
        <p:nvSpPr>
          <p:cNvPr id="59" name="Shape 46"/>
          <p:cNvSpPr/>
          <p:nvPr/>
        </p:nvSpPr>
        <p:spPr>
          <a:xfrm>
            <a:off x="5486400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11" descr="FaFileSigna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6984" y="2084832"/>
            <a:ext cx="256032" cy="256032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5989320" y="193852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Submit &amp; eSign</a:t>
            </a:r>
            <a:endParaRPr lang="en-US" sz="950" dirty="0"/>
          </a:p>
        </p:txBody>
      </p:sp>
      <p:sp>
        <p:nvSpPr>
          <p:cNvPr id="62" name="Shape 48"/>
          <p:cNvSpPr/>
          <p:nvPr/>
        </p:nvSpPr>
        <p:spPr>
          <a:xfrm>
            <a:off x="548640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3" name="Image 12" descr="FaSearch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6984" y="2724912"/>
            <a:ext cx="256032" cy="256032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5989320" y="257860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Track status</a:t>
            </a:r>
            <a:endParaRPr lang="en-US" sz="950" dirty="0"/>
          </a:p>
        </p:txBody>
      </p:sp>
      <p:sp>
        <p:nvSpPr>
          <p:cNvPr id="65" name="Shape 50"/>
          <p:cNvSpPr/>
          <p:nvPr/>
        </p:nvSpPr>
        <p:spPr>
          <a:xfrm>
            <a:off x="5486400" y="3264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mage 13" descr="FaChartLin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86984" y="3364992"/>
            <a:ext cx="256032" cy="256032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5989320" y="321868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Dashboard</a:t>
            </a:r>
            <a:endParaRPr lang="en-US" sz="950" dirty="0"/>
          </a:p>
        </p:txBody>
      </p:sp>
      <p:sp>
        <p:nvSpPr>
          <p:cNvPr id="68" name="Shape 52"/>
          <p:cNvSpPr/>
          <p:nvPr/>
        </p:nvSpPr>
        <p:spPr>
          <a:xfrm>
            <a:off x="5486400" y="3904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9" name="Image 14" descr="FaMobileAlt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6984" y="4005072"/>
            <a:ext cx="256032" cy="256032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5989320" y="385876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Mobile / SMS</a:t>
            </a:r>
            <a:endParaRPr lang="en-US" sz="950" dirty="0"/>
          </a:p>
        </p:txBody>
      </p:sp>
      <p:pic>
        <p:nvPicPr>
          <p:cNvPr id="71" name="Image 15" descr="FaArrowRigh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4928" y="2834640"/>
            <a:ext cx="201168" cy="201168"/>
          </a:xfrm>
          <a:prstGeom prst="rect">
            <a:avLst/>
          </a:prstGeom>
        </p:spPr>
      </p:pic>
      <p:sp>
        <p:nvSpPr>
          <p:cNvPr id="72" name="Shape 54"/>
          <p:cNvSpPr/>
          <p:nvPr/>
        </p:nvSpPr>
        <p:spPr>
          <a:xfrm>
            <a:off x="7635240" y="1463040"/>
            <a:ext cx="2011680" cy="3063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7635240" y="1463040"/>
            <a:ext cx="2011680" cy="38404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4" name="Text 56"/>
          <p:cNvSpPr txBox="1"/>
          <p:nvPr/>
        </p:nvSpPr>
        <p:spPr>
          <a:xfrm>
            <a:off x="763524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CORE SERVICES (FastAPI)</a:t>
            </a:r>
            <a:endParaRPr lang="en-US" sz="1000" dirty="0"/>
          </a:p>
        </p:txBody>
      </p:sp>
      <p:sp>
        <p:nvSpPr>
          <p:cNvPr id="75" name="Shape 57"/>
          <p:cNvSpPr/>
          <p:nvPr/>
        </p:nvSpPr>
        <p:spPr>
          <a:xfrm>
            <a:off x="7726680" y="198424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6" name="Image 16" descr="FaCogs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7264" y="2084832"/>
            <a:ext cx="256032" cy="256032"/>
          </a:xfrm>
          <a:prstGeom prst="rect">
            <a:avLst/>
          </a:prstGeom>
        </p:spPr>
      </p:pic>
      <p:sp>
        <p:nvSpPr>
          <p:cNvPr id="77" name="Text 58"/>
          <p:cNvSpPr txBox="1"/>
          <p:nvPr/>
        </p:nvSpPr>
        <p:spPr>
          <a:xfrm>
            <a:off x="8229600" y="193852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Workflow engine</a:t>
            </a:r>
            <a:endParaRPr lang="en-US" sz="950" dirty="0"/>
          </a:p>
        </p:txBody>
      </p:sp>
      <p:sp>
        <p:nvSpPr>
          <p:cNvPr id="78" name="Shape 59"/>
          <p:cNvSpPr/>
          <p:nvPr/>
        </p:nvSpPr>
        <p:spPr>
          <a:xfrm>
            <a:off x="7726680" y="262432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9" name="Image 17" descr="FaRobot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27264" y="2724912"/>
            <a:ext cx="256032" cy="256032"/>
          </a:xfrm>
          <a:prstGeom prst="rect">
            <a:avLst/>
          </a:prstGeom>
        </p:spPr>
      </p:pic>
      <p:sp>
        <p:nvSpPr>
          <p:cNvPr id="80" name="Text 60"/>
          <p:cNvSpPr txBox="1"/>
          <p:nvPr/>
        </p:nvSpPr>
        <p:spPr>
          <a:xfrm>
            <a:off x="8229600" y="257860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OCR + AI fraud checks</a:t>
            </a:r>
            <a:endParaRPr lang="en-US" sz="950" dirty="0"/>
          </a:p>
        </p:txBody>
      </p:sp>
      <p:sp>
        <p:nvSpPr>
          <p:cNvPr id="81" name="Shape 61"/>
          <p:cNvSpPr/>
          <p:nvPr/>
        </p:nvSpPr>
        <p:spPr>
          <a:xfrm>
            <a:off x="7726680" y="32644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2" name="Image 18" descr="FaShieldAl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27264" y="3364992"/>
            <a:ext cx="256032" cy="256032"/>
          </a:xfrm>
          <a:prstGeom prst="rect">
            <a:avLst/>
          </a:prstGeom>
        </p:spPr>
      </p:pic>
      <p:sp>
        <p:nvSpPr>
          <p:cNvPr id="83" name="Text 62"/>
          <p:cNvSpPr txBox="1"/>
          <p:nvPr/>
        </p:nvSpPr>
        <p:spPr>
          <a:xfrm>
            <a:off x="8229600" y="321868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Bank / e-FDR verify</a:t>
            </a:r>
            <a:endParaRPr lang="en-US" sz="950" dirty="0"/>
          </a:p>
        </p:txBody>
      </p:sp>
      <p:sp>
        <p:nvSpPr>
          <p:cNvPr id="84" name="Shape 63"/>
          <p:cNvSpPr/>
          <p:nvPr/>
        </p:nvSpPr>
        <p:spPr>
          <a:xfrm>
            <a:off x="7726680" y="390448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5" name="Image 19" descr="FaBell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27264" y="4005072"/>
            <a:ext cx="256032" cy="256032"/>
          </a:xfrm>
          <a:prstGeom prst="rect">
            <a:avLst/>
          </a:prstGeom>
        </p:spPr>
      </p:pic>
      <p:sp>
        <p:nvSpPr>
          <p:cNvPr id="86" name="Text 64"/>
          <p:cNvSpPr txBox="1"/>
          <p:nvPr/>
        </p:nvSpPr>
        <p:spPr>
          <a:xfrm>
            <a:off x="8229600" y="385876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Alert scheduler</a:t>
            </a:r>
            <a:endParaRPr lang="en-US" sz="950" dirty="0"/>
          </a:p>
        </p:txBody>
      </p:sp>
      <p:pic>
        <p:nvPicPr>
          <p:cNvPr id="87" name="Image 20" descr="FaArrowRigh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5208" y="2834640"/>
            <a:ext cx="201168" cy="201168"/>
          </a:xfrm>
          <a:prstGeom prst="rect">
            <a:avLst/>
          </a:prstGeom>
        </p:spPr>
      </p:pic>
      <p:sp>
        <p:nvSpPr>
          <p:cNvPr id="88" name="Shape 65"/>
          <p:cNvSpPr/>
          <p:nvPr/>
        </p:nvSpPr>
        <p:spPr>
          <a:xfrm>
            <a:off x="9875520" y="1463040"/>
            <a:ext cx="2011680" cy="3063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9" name="Shape 66"/>
          <p:cNvSpPr/>
          <p:nvPr/>
        </p:nvSpPr>
        <p:spPr>
          <a:xfrm>
            <a:off x="9875520" y="1463040"/>
            <a:ext cx="2011680" cy="38404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0" name="Text 67"/>
          <p:cNvSpPr txBox="1"/>
          <p:nvPr/>
        </p:nvSpPr>
        <p:spPr>
          <a:xfrm>
            <a:off x="987552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DATA &amp; OUTPUT</a:t>
            </a:r>
            <a:endParaRPr lang="en-US" sz="1000" dirty="0"/>
          </a:p>
        </p:txBody>
      </p:sp>
      <p:sp>
        <p:nvSpPr>
          <p:cNvPr id="91" name="Shape 68"/>
          <p:cNvSpPr/>
          <p:nvPr/>
        </p:nvSpPr>
        <p:spPr>
          <a:xfrm>
            <a:off x="9966960" y="198424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2" name="Image 21" descr="FaDatabas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67544" y="2084832"/>
            <a:ext cx="256032" cy="256032"/>
          </a:xfrm>
          <a:prstGeom prst="rect">
            <a:avLst/>
          </a:prstGeom>
        </p:spPr>
      </p:pic>
      <p:sp>
        <p:nvSpPr>
          <p:cNvPr id="93" name="Text 69"/>
          <p:cNvSpPr txBox="1"/>
          <p:nvPr/>
        </p:nvSpPr>
        <p:spPr>
          <a:xfrm>
            <a:off x="10469880" y="193852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PostgreSQL + audit log</a:t>
            </a:r>
            <a:endParaRPr lang="en-US" sz="950" dirty="0"/>
          </a:p>
        </p:txBody>
      </p:sp>
      <p:sp>
        <p:nvSpPr>
          <p:cNvPr id="94" name="Shape 70"/>
          <p:cNvSpPr/>
          <p:nvPr/>
        </p:nvSpPr>
        <p:spPr>
          <a:xfrm>
            <a:off x="9966960" y="262432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5" name="Image 22" descr="FaLink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67544" y="2724912"/>
            <a:ext cx="256032" cy="256032"/>
          </a:xfrm>
          <a:prstGeom prst="rect">
            <a:avLst/>
          </a:prstGeom>
        </p:spPr>
      </p:pic>
      <p:sp>
        <p:nvSpPr>
          <p:cNvPr id="96" name="Text 71"/>
          <p:cNvSpPr txBox="1"/>
          <p:nvPr/>
        </p:nvSpPr>
        <p:spPr>
          <a:xfrm>
            <a:off x="10469880" y="257860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Hash-chained ledger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9966960" y="326440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8" name="Image 23" descr="FaEnvelop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67544" y="3364992"/>
            <a:ext cx="256032" cy="256032"/>
          </a:xfrm>
          <a:prstGeom prst="rect">
            <a:avLst/>
          </a:prstGeom>
        </p:spPr>
      </p:pic>
      <p:sp>
        <p:nvSpPr>
          <p:cNvPr id="99" name="Text 73"/>
          <p:cNvSpPr txBox="1"/>
          <p:nvPr/>
        </p:nvSpPr>
        <p:spPr>
          <a:xfrm>
            <a:off x="10469880" y="321868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SMS / Email / WhatsApp</a:t>
            </a:r>
            <a:endParaRPr lang="en-US" sz="950" dirty="0"/>
          </a:p>
        </p:txBody>
      </p:sp>
      <p:sp>
        <p:nvSpPr>
          <p:cNvPr id="100" name="Shape 74"/>
          <p:cNvSpPr/>
          <p:nvPr/>
        </p:nvSpPr>
        <p:spPr>
          <a:xfrm>
            <a:off x="9966960" y="39044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1" name="Image 24" descr="FaRupeeSig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67544" y="4005072"/>
            <a:ext cx="256032" cy="256032"/>
          </a:xfrm>
          <a:prstGeom prst="rect">
            <a:avLst/>
          </a:prstGeom>
        </p:spPr>
      </p:pic>
      <p:sp>
        <p:nvSpPr>
          <p:cNvPr id="102" name="Text 75"/>
          <p:cNvSpPr txBox="1"/>
          <p:nvPr/>
        </p:nvSpPr>
        <p:spPr>
          <a:xfrm>
            <a:off x="10469880" y="3858768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Refund via PFMS / Treasury</a:t>
            </a:r>
            <a:endParaRPr lang="en-US" sz="950" dirty="0"/>
          </a:p>
        </p:txBody>
      </p:sp>
      <p:sp>
        <p:nvSpPr>
          <p:cNvPr id="103" name="Text 76"/>
          <p:cNvSpPr txBox="1"/>
          <p:nvPr/>
        </p:nvSpPr>
        <p:spPr>
          <a:xfrm>
            <a:off x="31546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DEPOSIT LIFECYCLE:</a:t>
            </a:r>
            <a:endParaRPr lang="en-US" sz="1300" dirty="0"/>
          </a:p>
        </p:txBody>
      </p:sp>
      <p:sp>
        <p:nvSpPr>
          <p:cNvPr id="104" name="Shape 77"/>
          <p:cNvSpPr/>
          <p:nvPr/>
        </p:nvSpPr>
        <p:spPr>
          <a:xfrm>
            <a:off x="3154680" y="5029200"/>
            <a:ext cx="1508760" cy="777240"/>
          </a:xfrm>
          <a:prstGeom prst="chevron">
            <a:avLst/>
          </a:prstGeom>
          <a:solidFill>
            <a:srgbClr val="0070C0"/>
          </a:solidFill>
          <a:ln/>
        </p:spPr>
      </p:sp>
      <p:sp>
        <p:nvSpPr>
          <p:cNvPr id="105" name="Text 78"/>
          <p:cNvSpPr txBox="1"/>
          <p:nvPr/>
        </p:nvSpPr>
        <p:spPr>
          <a:xfrm>
            <a:off x="3429000" y="5029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1. Submit</a:t>
            </a:r>
            <a:endParaRPr lang="en-US" sz="1050" dirty="0"/>
          </a:p>
        </p:txBody>
      </p:sp>
      <p:sp>
        <p:nvSpPr>
          <p:cNvPr id="106" name="Shape 79"/>
          <p:cNvSpPr/>
          <p:nvPr/>
        </p:nvSpPr>
        <p:spPr>
          <a:xfrm>
            <a:off x="4617720" y="5029200"/>
            <a:ext cx="1508760" cy="777240"/>
          </a:xfrm>
          <a:prstGeom prst="chevron">
            <a:avLst/>
          </a:prstGeom>
          <a:solidFill>
            <a:srgbClr val="2E9E4F"/>
          </a:solidFill>
          <a:ln/>
        </p:spPr>
      </p:sp>
      <p:sp>
        <p:nvSpPr>
          <p:cNvPr id="107" name="Text 80"/>
          <p:cNvSpPr txBox="1"/>
          <p:nvPr/>
        </p:nvSpPr>
        <p:spPr>
          <a:xfrm>
            <a:off x="4892040" y="5029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2. Verify</a:t>
            </a:r>
            <a:endParaRPr lang="en-US" sz="1050" dirty="0"/>
          </a:p>
        </p:txBody>
      </p:sp>
      <p:sp>
        <p:nvSpPr>
          <p:cNvPr id="108" name="Shape 81"/>
          <p:cNvSpPr/>
          <p:nvPr/>
        </p:nvSpPr>
        <p:spPr>
          <a:xfrm>
            <a:off x="6080760" y="5029200"/>
            <a:ext cx="1508760" cy="777240"/>
          </a:xfrm>
          <a:prstGeom prst="chevron">
            <a:avLst/>
          </a:prstGeom>
          <a:solidFill>
            <a:srgbClr val="7B4FA3"/>
          </a:solidFill>
          <a:ln/>
        </p:spPr>
      </p:sp>
      <p:sp>
        <p:nvSpPr>
          <p:cNvPr id="109" name="Text 82"/>
          <p:cNvSpPr txBox="1"/>
          <p:nvPr/>
        </p:nvSpPr>
        <p:spPr>
          <a:xfrm>
            <a:off x="6355080" y="5029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3. Lien</a:t>
            </a:r>
            <a:endParaRPr lang="en-US" sz="1050" dirty="0"/>
          </a:p>
        </p:txBody>
      </p:sp>
      <p:sp>
        <p:nvSpPr>
          <p:cNvPr id="110" name="Shape 83"/>
          <p:cNvSpPr/>
          <p:nvPr/>
        </p:nvSpPr>
        <p:spPr>
          <a:xfrm>
            <a:off x="7543800" y="5029200"/>
            <a:ext cx="1508760" cy="777240"/>
          </a:xfrm>
          <a:prstGeom prst="chevron">
            <a:avLst/>
          </a:prstGeom>
          <a:solidFill>
            <a:srgbClr val="E8742A"/>
          </a:solidFill>
          <a:ln/>
        </p:spPr>
      </p:sp>
      <p:sp>
        <p:nvSpPr>
          <p:cNvPr id="111" name="Text 84"/>
          <p:cNvSpPr txBox="1"/>
          <p:nvPr/>
        </p:nvSpPr>
        <p:spPr>
          <a:xfrm>
            <a:off x="7818120" y="5029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4. Monitor</a:t>
            </a:r>
            <a:endParaRPr lang="en-US" sz="1050" dirty="0"/>
          </a:p>
        </p:txBody>
      </p:sp>
      <p:sp>
        <p:nvSpPr>
          <p:cNvPr id="112" name="Shape 85"/>
          <p:cNvSpPr/>
          <p:nvPr/>
        </p:nvSpPr>
        <p:spPr>
          <a:xfrm>
            <a:off x="9006840" y="5029200"/>
            <a:ext cx="1508760" cy="777240"/>
          </a:xfrm>
          <a:prstGeom prst="chevron">
            <a:avLst/>
          </a:prstGeom>
          <a:solidFill>
            <a:srgbClr val="0070C0"/>
          </a:solidFill>
          <a:ln/>
        </p:spPr>
      </p:sp>
      <p:sp>
        <p:nvSpPr>
          <p:cNvPr id="113" name="Text 86"/>
          <p:cNvSpPr txBox="1"/>
          <p:nvPr/>
        </p:nvSpPr>
        <p:spPr>
          <a:xfrm>
            <a:off x="9281160" y="5029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5. Renew</a:t>
            </a:r>
            <a:endParaRPr lang="en-US" sz="1050" dirty="0"/>
          </a:p>
        </p:txBody>
      </p:sp>
      <p:sp>
        <p:nvSpPr>
          <p:cNvPr id="114" name="Shape 87"/>
          <p:cNvSpPr/>
          <p:nvPr/>
        </p:nvSpPr>
        <p:spPr>
          <a:xfrm>
            <a:off x="10469880" y="5029200"/>
            <a:ext cx="1508760" cy="777240"/>
          </a:xfrm>
          <a:prstGeom prst="chevron">
            <a:avLst/>
          </a:prstGeom>
          <a:solidFill>
            <a:srgbClr val="2E9E4F"/>
          </a:solidFill>
          <a:ln/>
        </p:spPr>
      </p:sp>
      <p:sp>
        <p:nvSpPr>
          <p:cNvPr id="115" name="Text 88"/>
          <p:cNvSpPr txBox="1"/>
          <p:nvPr/>
        </p:nvSpPr>
        <p:spPr>
          <a:xfrm>
            <a:off x="10744200" y="5029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6. Release</a:t>
            </a:r>
            <a:endParaRPr lang="en-US" sz="1050" dirty="0"/>
          </a:p>
        </p:txBody>
      </p:sp>
      <p:sp>
        <p:nvSpPr>
          <p:cNvPr id="116" name="Text 89"/>
          <p:cNvSpPr txBox="1"/>
          <p:nvPr/>
        </p:nvSpPr>
        <p:spPr>
          <a:xfrm>
            <a:off x="3154680" y="5897880"/>
            <a:ext cx="8686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tx2"/>
                </a:solidFill>
              </a:rPr>
              <a:t>Every step is time-stamped in the audit trail and visible on the live dashboard.</a:t>
            </a:r>
            <a:endParaRPr lang="en-US" sz="105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9B6EF1A7-BB8B-46B2-84B8-4C6987396D8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15241" y="1432560"/>
            <a:ext cx="1219200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FEASIBILITY AND VIABILITY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FEASIBILITY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6F4E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FaCo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Proven building blocks – </a:t>
            </a:r>
            <a:r>
              <a:rPr lang="en-US" sz="1050" dirty="0">
                <a:solidFill>
                  <a:schemeClr val="tx1"/>
                </a:solidFill>
              </a:rPr>
              <a:t>Web portal, OCR, eSign and SMS are mature, off-the-shelf tech.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6F4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496312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1" name="Image 1" descr="FaUnivers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596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Phased bank verification – </a:t>
            </a:r>
            <a:r>
              <a:rPr lang="en-US" sz="1050" dirty="0">
                <a:solidFill>
                  <a:schemeClr val="tx1"/>
                </a:solidFill>
              </a:rPr>
              <a:t>Start with OCR + bank confirmation; move to bank APIs / e-FDR as banks onboard.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3118104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6F4EA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2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3101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584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Scheduler-driven alerts – </a:t>
            </a:r>
            <a:r>
              <a:rPr lang="en-US" sz="1050" dirty="0">
                <a:solidFill>
                  <a:schemeClr val="tx1"/>
                </a:solidFill>
              </a:rPr>
              <a:t>Nightly jobs track every maturity and expiry date.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6F4EA"/>
          </a:solidFill>
          <a:ln/>
        </p:spPr>
      </p:sp>
      <p:sp>
        <p:nvSpPr>
          <p:cNvPr id="18" name="Shape 13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3" descr="FaPla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0233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84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Demonstrable MVP – </a:t>
            </a:r>
            <a:r>
              <a:rPr lang="en-US" sz="1050" dirty="0">
                <a:solidFill>
                  <a:schemeClr val="tx1"/>
                </a:solidFill>
              </a:rPr>
              <a:t>Core flow: submit → verify → alert → release.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263640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263640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VIABILITY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63640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3EEF9"/>
          </a:solidFill>
          <a:ln/>
        </p:spPr>
      </p:sp>
      <p:sp>
        <p:nvSpPr>
          <p:cNvPr id="24" name="Shape 18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5" name="Image 4" descr="FaBalance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18836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0372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Fits existing rules – </a:t>
            </a:r>
            <a:r>
              <a:rPr lang="en-US" sz="1050" dirty="0">
                <a:solidFill>
                  <a:schemeClr val="tx1"/>
                </a:solidFill>
              </a:rPr>
              <a:t>EMD / performance-security norms set as configurable rules.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263640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3EEF9"/>
          </a:solidFill>
          <a:ln/>
        </p:spPr>
      </p:sp>
      <p:sp>
        <p:nvSpPr>
          <p:cNvPr id="28" name="Shape 21"/>
          <p:cNvSpPr/>
          <p:nvPr/>
        </p:nvSpPr>
        <p:spPr>
          <a:xfrm>
            <a:off x="6355080" y="2496312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9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2596896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0372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Low cost – </a:t>
            </a:r>
            <a:r>
              <a:rPr lang="en-US" sz="1050" dirty="0">
                <a:solidFill>
                  <a:schemeClr val="tx1"/>
                </a:solidFill>
              </a:rPr>
              <a:t>Open-source stack; cloud or on-prem hosting.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263640" y="3118104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3EEF9"/>
          </a:solidFill>
          <a:ln/>
        </p:spPr>
      </p:sp>
      <p:sp>
        <p:nvSpPr>
          <p:cNvPr id="32" name="Shape 24"/>
          <p:cNvSpPr/>
          <p:nvPr/>
        </p:nvSpPr>
        <p:spPr>
          <a:xfrm>
            <a:off x="6355080" y="3209544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3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664" y="3310128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90372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Modular &amp; scalable – </a:t>
            </a:r>
            <a:r>
              <a:rPr lang="en-US" sz="1050" dirty="0">
                <a:solidFill>
                  <a:schemeClr val="tx1"/>
                </a:solidFill>
              </a:rPr>
              <a:t>Per-department rules and plug-in APIs.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263640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E3EEF9"/>
          </a:solidFill>
          <a:ln/>
        </p:spPr>
      </p:sp>
      <p:sp>
        <p:nvSpPr>
          <p:cNvPr id="36" name="Shape 27"/>
          <p:cNvSpPr/>
          <p:nvPr/>
        </p:nvSpPr>
        <p:spPr>
          <a:xfrm>
            <a:off x="6355080" y="3922776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7" name="Image 7" descr="FaLo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5664" y="4023360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0372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Trust &amp; compliance – </a:t>
            </a:r>
            <a:r>
              <a:rPr lang="en-US" sz="1050" dirty="0">
                <a:solidFill>
                  <a:schemeClr val="tx1"/>
                </a:solidFill>
              </a:rPr>
              <a:t>RBAC, 2FA, encryption, audit trail, DPDP-aligned.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365760" y="4617720"/>
            <a:ext cx="11475720" cy="365760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365760" y="4617720"/>
            <a:ext cx="5577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POTENTIAL CHALLENGES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OVERCOME METHODS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365760" y="5029200"/>
            <a:ext cx="5394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Banks may lack uniform APIs for FDR verification and lien marking.</a:t>
            </a:r>
            <a:endParaRPr lang="en-US" sz="1050" dirty="0"/>
          </a:p>
        </p:txBody>
      </p:sp>
      <p:pic>
        <p:nvPicPr>
          <p:cNvPr id="43" name="Image 8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2160" y="5202936"/>
            <a:ext cx="228600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263640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Pluggable bank adapters with OCR + manual fallback; start with pilot banks.</a:t>
            </a:r>
            <a:endParaRPr lang="en-US" sz="1050" dirty="0"/>
          </a:p>
        </p:txBody>
      </p:sp>
      <p:sp>
        <p:nvSpPr>
          <p:cNvPr id="45" name="Text 34"/>
          <p:cNvSpPr txBox="1"/>
          <p:nvPr/>
        </p:nvSpPr>
        <p:spPr>
          <a:xfrm>
            <a:off x="367553" y="5650992"/>
            <a:ext cx="5393166" cy="552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Sensitive financial data and risk of insider misuse.</a:t>
            </a:r>
            <a:endParaRPr lang="en-US" sz="1050" dirty="0"/>
          </a:p>
        </p:txBody>
      </p:sp>
      <p:pic>
        <p:nvPicPr>
          <p:cNvPr id="46" name="Image 9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2160" y="5824728"/>
            <a:ext cx="228600" cy="22860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263640" y="5650992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Role-based access, encryption, 2FA and an immutable audit log.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IMPACT AND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3703320" cy="164592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370332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CONTRACTORS &amp; VENDORS</a:t>
            </a:r>
            <a:endParaRPr lang="en-US" sz="1200" dirty="0"/>
          </a:p>
        </p:txBody>
      </p:sp>
      <p:pic>
        <p:nvPicPr>
          <p:cNvPr id="6" name="Image 0" descr="FaHard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161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Submit online, track live and get refunds on time – no repeated office visits or lost FDRs.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51960" y="1143000"/>
            <a:ext cx="3703320" cy="164592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9" name="Shape 6"/>
          <p:cNvSpPr/>
          <p:nvPr/>
        </p:nvSpPr>
        <p:spPr>
          <a:xfrm>
            <a:off x="4251960" y="1143000"/>
            <a:ext cx="370332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548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OFFICERS &amp; FINANCE</a:t>
            </a:r>
            <a:endParaRPr lang="en-US" sz="1200" dirty="0"/>
          </a:p>
        </p:txBody>
      </p:sp>
      <p:pic>
        <p:nvPicPr>
          <p:cNvPr id="11" name="Image 1" descr="FaUserT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2161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One live view of every deposit: maturing, lapsed, under lien or ready to release.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143000"/>
            <a:ext cx="3703320" cy="1645920"/>
          </a:xfrm>
          <a:prstGeom prst="rect">
            <a:avLst/>
          </a:prstGeom>
          <a:solidFill>
            <a:srgbClr val="DFF0E3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1143000"/>
            <a:ext cx="370332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410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GOVT &amp; AUDITORS</a:t>
            </a:r>
            <a:endParaRPr lang="en-US" sz="1200" dirty="0"/>
          </a:p>
        </p:txBody>
      </p:sp>
      <p:pic>
        <p:nvPicPr>
          <p:cNvPr id="16" name="Image 2" descr="FaLand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2161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Standard, auditable deposit handling across departments – less leakage, stronger compliance.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926080"/>
            <a:ext cx="5577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65760" y="2926080"/>
            <a:ext cx="5577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Potential Impact on the Target Audience: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338328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0584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FASTER REFUNDS
</a:t>
            </a:r>
            <a:r>
              <a:rPr lang="en-US" sz="1000" dirty="0">
                <a:solidFill>
                  <a:schemeClr val="tx1"/>
                </a:solidFill>
              </a:rPr>
              <a:t>Rule-based release cuts waiting time.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411480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100584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ZERO LAPSED COVER
</a:t>
            </a:r>
            <a:r>
              <a:rPr lang="en-US" sz="1000" dirty="0">
                <a:solidFill>
                  <a:schemeClr val="tx1"/>
                </a:solidFill>
              </a:rPr>
              <a:t>Auto alerts before every expiry.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65760" y="484632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1005840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REDUCED FRAUD
</a:t>
            </a:r>
            <a:r>
              <a:rPr lang="en-US" sz="1000" dirty="0">
                <a:solidFill>
                  <a:schemeClr val="tx1"/>
                </a:solidFill>
              </a:rPr>
              <a:t>Fake or duplicate FDRs flagged early.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5760" y="55778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7200" y="5669280"/>
            <a:ext cx="457200" cy="457200"/>
          </a:xfrm>
          <a:prstGeom prst="ellipse">
            <a:avLst/>
          </a:prstGeom>
          <a:solidFill>
            <a:srgbClr val="7B4FA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4572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005840" y="55778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TRANSPARENT AUDIT
</a:t>
            </a:r>
            <a:r>
              <a:rPr lang="en-US" sz="1000" dirty="0">
                <a:solidFill>
                  <a:schemeClr val="tx1"/>
                </a:solidFill>
              </a:rPr>
              <a:t>Every action time-stamped and traceable.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172200" y="2926080"/>
            <a:ext cx="571500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172200" y="2926080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Benefits of the Solution: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72200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CE6F5"/>
          </a:solidFill>
          <a:ln/>
        </p:spPr>
      </p:sp>
      <p:pic>
        <p:nvPicPr>
          <p:cNvPr id="39" name="Image 3" descr="FaC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493008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6751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Time Saved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626364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Verification in minutes, not days (pilot target)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9052560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FF0E3"/>
          </a:solidFill>
          <a:ln/>
        </p:spPr>
      </p:sp>
      <p:pic>
        <p:nvPicPr>
          <p:cNvPr id="43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3493008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5554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Trust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914400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Tamper-proof audit trail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172200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/>
        </p:spPr>
      </p:sp>
      <p:pic>
        <p:nvPicPr>
          <p:cNvPr id="47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4590288"/>
            <a:ext cx="329184" cy="32918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67512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 Cost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6263640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Open-source, low run cost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9052560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BE0F3"/>
          </a:solidFill>
          <a:ln/>
        </p:spPr>
      </p:sp>
      <p:pic>
        <p:nvPicPr>
          <p:cNvPr id="51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2288" y="4590288"/>
            <a:ext cx="329184" cy="329184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55548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Scalable</a:t>
            </a:r>
            <a:endParaRPr lang="en-US" sz="1200" dirty="0"/>
          </a:p>
        </p:txBody>
      </p:sp>
      <p:sp>
        <p:nvSpPr>
          <p:cNvPr id="53" name="Text 44"/>
          <p:cNvSpPr txBox="1"/>
          <p:nvPr/>
        </p:nvSpPr>
        <p:spPr>
          <a:xfrm>
            <a:off x="9144000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Any department or PSU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6172200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0070C0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6172200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SUBMIT &amp; VERIFY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8156448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E8742A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156448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AUTO MONITORING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10140696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2E9E4F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10140696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FAST, FAIR RELEASE</a:t>
            </a:r>
            <a:endParaRPr lang="en-US" sz="1000" dirty="0"/>
          </a:p>
        </p:txBody>
      </p:sp>
      <p:pic>
        <p:nvPicPr>
          <p:cNvPr id="60" name="Image 7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5806440"/>
            <a:ext cx="201168" cy="201168"/>
          </a:xfrm>
          <a:prstGeom prst="rect">
            <a:avLst/>
          </a:prstGeom>
        </p:spPr>
      </p:pic>
      <p:pic>
        <p:nvPicPr>
          <p:cNvPr id="61" name="Image 8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9528" y="5806440"/>
            <a:ext cx="201168" cy="201168"/>
          </a:xfrm>
          <a:prstGeom prst="rect">
            <a:avLst/>
          </a:prstGeom>
        </p:spPr>
      </p:pic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AND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4923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8872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General Financial Rules, 2017 (Rules 170–171)
</a:t>
            </a:r>
            <a:r>
              <a:rPr lang="en-US" sz="1000" dirty="0">
                <a:solidFill>
                  <a:schemeClr val="tx1"/>
                </a:solidFill>
              </a:rPr>
              <a:t>Earnest money deposit and performance security norms – Dept. of Expenditure, MoF.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FaFileContr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4981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Manual for Procurement of Works, 2022
</a:t>
            </a:r>
            <a:r>
              <a:rPr lang="en-US" sz="1000" dirty="0">
                <a:solidFill>
                  <a:schemeClr val="tx1"/>
                </a:solidFill>
              </a:rPr>
              <a:t>Bid security and performance security practice for public works.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320040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RupeeSig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503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PFMS – Public Financial Management System
</a:t>
            </a:r>
            <a:r>
              <a:rPr lang="en-US" sz="1000" dirty="0">
                <a:solidFill>
                  <a:schemeClr val="tx1"/>
                </a:solidFill>
              </a:rPr>
              <a:t>Controller General of Accounts; target for refund / payment integration.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" y="420624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FaFileSigna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1" y="4509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Aadhaar eSign &amp; DigiLocker (MeitY)
</a:t>
            </a:r>
            <a:r>
              <a:rPr lang="en-US" sz="1000" dirty="0">
                <a:solidFill>
                  <a:schemeClr val="tx1"/>
                </a:solidFill>
              </a:rPr>
              <a:t>Paperless signing and document fetch for submissions.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65760" y="521208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1" y="55156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Digital Personal Data Protection Act, 2023
</a:t>
            </a:r>
            <a:r>
              <a:rPr lang="en-US" sz="1000" dirty="0">
                <a:solidFill>
                  <a:schemeClr val="tx1"/>
                </a:solidFill>
              </a:rPr>
              <a:t>Consent and data-handling principles for user and financial data.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63640" y="11430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pic>
        <p:nvPicPr>
          <p:cNvPr id="24" name="Image 5" descr="FaYoutub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132588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29400" y="11430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/>
                </a:solidFill>
              </a:rPr>
              <a:t>Prototype Demo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7680960" y="11430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pic>
        <p:nvPicPr>
          <p:cNvPr id="27" name="Image 6" descr="FaYoutub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4112" y="132588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046720" y="11430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/>
                </a:solidFill>
              </a:rPr>
              <a:t>Idea Video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9098280" y="11430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pic>
        <p:nvPicPr>
          <p:cNvPr id="30" name="Image 7" descr="FaGithu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1432" y="132588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464040" y="11430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/>
                </a:solidFill>
              </a:rPr>
              <a:t>GitHub Repo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10515600" y="11430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pic>
        <p:nvPicPr>
          <p:cNvPr id="33" name="Image 8" descr="FaFolderOpe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1325880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881360" y="11430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/>
                </a:solidFill>
              </a:rPr>
              <a:t>Project Docs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623560" cy="40233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ASPECTS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OTHERS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NIDHITRACK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Submission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Paper / email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Online + eSign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FDR check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Manual bank calls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OCR + AI flags, bank API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Tracking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Excel / registers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Auto alerts at 90/60/30/7 days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Release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File-by-file approvals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Rule-based workflow + SLA timers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Audit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Editable records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Hash-chained, tamper-proof log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H NidhiTrack">
  <a:themeElements>
    <a:clrScheme name="SIH NidhiTrack">
      <a:dk1>
        <a:srgbClr val="1A1A1A"/>
      </a:dk1>
      <a:lt1>
        <a:srgbClr val="FFFFFF"/>
      </a:lt1>
      <a:dk2>
        <a:srgbClr val="1F4E79"/>
      </a:dk2>
      <a:lt2>
        <a:srgbClr val="EAF1F8"/>
      </a:lt2>
      <a:accent1>
        <a:srgbClr val="0070C0"/>
      </a:accent1>
      <a:accent2>
        <a:srgbClr val="2E9E4F"/>
      </a:accent2>
      <a:accent3>
        <a:srgbClr val="E8742A"/>
      </a:accent3>
      <a:accent4>
        <a:srgbClr val="7B4FA3"/>
      </a:accent4>
      <a:accent5>
        <a:srgbClr val="C0392B"/>
      </a:accent5>
      <a:accent6>
        <a:srgbClr val="F2B632"/>
      </a:accent6>
      <a:hlink>
        <a:srgbClr val="0070C0"/>
      </a:hlink>
      <a:folHlink>
        <a:srgbClr val="7B4FA3"/>
      </a:folHlink>
    </a:clrScheme>
    <a:fontScheme name="SIH NidhiTrack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911</Words>
  <Application>Microsoft Office PowerPoint</Application>
  <PresentationFormat>Widescreen</PresentationFormat>
  <Paragraphs>162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SIH NidhiTrack</vt:lpstr>
      <vt:lpstr>SMART INDIA HACKATHON 2026</vt:lpstr>
      <vt:lpstr>NIDHITRACK – IDEA / SOLUTION</vt:lpstr>
      <vt:lpstr>TECHNICAL APPROACH</vt:lpstr>
      <vt:lpstr>FEASIBILITY AND VIABILITY</vt:lpstr>
      <vt:lpstr>IMPACT AND BENEFITS</vt:lpstr>
      <vt:lpstr>RESEARCH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5</cp:revision>
  <dcterms:created xsi:type="dcterms:W3CDTF">2026-10-23T05:01:58Z</dcterms:created>
  <dcterms:modified xsi:type="dcterms:W3CDTF">2026-10-24T04:46:15Z</dcterms:modified>
</cp:coreProperties>
</file>