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7058FBF-E08C-B2F2-A489-D4593ACC692C}">
          <p14:sldIdLst>
            <p14:sldId id="256"/>
          </p14:sldIdLst>
        </p14:section>
        <p14:section name="Idea" id="{5210880F-D86E-1963-BE9A-ED79A245238F}">
          <p14:sldIdLst>
            <p14:sldId id="257"/>
          </p14:sldIdLst>
        </p14:section>
        <p14:section name="Approach" id="{131C0FD2-F355-E52E-8F0B-117BCEBF9F05}">
          <p14:sldIdLst>
            <p14:sldId id="258"/>
          </p14:sldIdLst>
        </p14:section>
        <p14:section name="Feasibility" id="{0677D74B-90A5-B4F0-45E9-84E1DDBB3B0A}">
          <p14:sldIdLst>
            <p14:sldId id="259"/>
          </p14:sldIdLst>
        </p14:section>
        <p14:section name="Impact" id="{4A0A08F3-83DF-8610-DDB9-A716F126AED1}">
          <p14:sldIdLst>
            <p14:sldId id="260"/>
          </p14:sldIdLst>
        </p14:section>
        <p14:section name="References" id="{E56BB491-68F5-794C-EAAF-27C06A3EB99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ebb43d6410cc87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2"/>
    <a:srgbClr val="1C7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5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7432"/>
            <a:ext cx="2194560" cy="1033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1" y="228601"/>
            <a:ext cx="1325880" cy="7772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TEAM-INNOVATIONS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7432"/>
            <a:ext cx="2194560" cy="10332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1" indent="-342901" algn="l" defTabSz="91440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2" indent="-285751" algn="l" defTabSz="91440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4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5" indent="-228601" algn="l" defTabSz="914403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6" indent="-228601" algn="l" defTabSz="914403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8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9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10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11" indent="-228601" algn="l" defTabSz="91440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1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3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4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5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6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8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0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11" algn="l" defTabSz="91440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jp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3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t8PlSEE-2ro" TargetMode="External"/><Relationship Id="rId13" Type="http://schemas.openxmlformats.org/officeDocument/2006/relationships/hyperlink" Target="https://drive.google.com/drive/folders/1F9PiRjv8EUl1RGh-Vk0goS0RRntvSFuN?usp=drive_link" TargetMode="External"/><Relationship Id="rId3" Type="http://schemas.openxmlformats.org/officeDocument/2006/relationships/image" Target="../media/image37.png"/><Relationship Id="rId7" Type="http://schemas.openxmlformats.org/officeDocument/2006/relationships/image" Target="../media/image2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hyperlink" Target="https://github.com/ARULANANTHANR/NITHITRACK" TargetMode="External"/><Relationship Id="rId5" Type="http://schemas.openxmlformats.org/officeDocument/2006/relationships/image" Target="../media/image26.pn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228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SMART INDIA HACKATHON 2026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1" y="1554480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Problem Statement ID – </a:t>
            </a:r>
            <a:r>
              <a:rPr lang="en-US" sz="1600" b="1" dirty="0">
                <a:solidFill>
                  <a:schemeClr val="accent2"/>
                </a:solidFill>
              </a:rPr>
              <a:t>SIH26265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1" y="2167129"/>
            <a:ext cx="6766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Problem Statement Title - </a:t>
            </a:r>
            <a:r>
              <a:rPr lang="en-US" sz="1600" b="1" dirty="0">
                <a:solidFill>
                  <a:schemeClr val="accent2"/>
                </a:solidFill>
              </a:rPr>
              <a:t>Streamlining of Security Deposit / FDR Portal (NidhiTrack)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1" y="3145536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Theme – </a:t>
            </a:r>
            <a:r>
              <a:rPr lang="en-US" sz="1600" b="1" dirty="0">
                <a:solidFill>
                  <a:schemeClr val="accent2"/>
                </a:solidFill>
              </a:rPr>
              <a:t>Smart Automation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1" y="3758185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PS Category - </a:t>
            </a:r>
            <a:r>
              <a:rPr lang="en-US" sz="1600" b="1" dirty="0">
                <a:solidFill>
                  <a:schemeClr val="accent2"/>
                </a:solidFill>
              </a:rPr>
              <a:t>Software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1" y="4370832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Team ID - </a:t>
            </a:r>
            <a:r>
              <a:rPr lang="en-US" sz="1600" b="1" dirty="0">
                <a:solidFill>
                  <a:schemeClr val="accent2"/>
                </a:solidFill>
              </a:rPr>
              <a:t>197807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1" y="4983480"/>
            <a:ext cx="6766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1" indent="-342901">
              <a:buSzPct val="100000"/>
              <a:buChar char="•"/>
            </a:pPr>
            <a:r>
              <a:rPr lang="en-US" sz="1600" b="1" dirty="0"/>
              <a:t>Team Name – </a:t>
            </a:r>
            <a:r>
              <a:rPr lang="en-US" sz="1600" b="1" dirty="0">
                <a:solidFill>
                  <a:schemeClr val="accent2"/>
                </a:solidFill>
              </a:rPr>
              <a:t>TEAM-INNOVATIONS</a:t>
            </a:r>
            <a:endParaRPr lang="en-US" sz="1600" dirty="0"/>
          </a:p>
        </p:txBody>
      </p:sp>
      <p:pic>
        <p:nvPicPr>
          <p:cNvPr id="13" name="Image 1" descr="FaFileInvoiceDol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029969"/>
            <a:ext cx="512064" cy="512064"/>
          </a:xfrm>
          <a:prstGeom prst="rect">
            <a:avLst/>
          </a:prstGeom>
        </p:spPr>
      </p:pic>
      <p:pic>
        <p:nvPicPr>
          <p:cNvPr id="15" name="Image 2" descr="FaBe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2029969"/>
            <a:ext cx="512064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4F5180-1482-4826-9418-DF05B8EBE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986" y="1325881"/>
            <a:ext cx="4191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/>
          </p:nvPr>
        </p:nvSpPr>
        <p:spPr>
          <a:xfrm>
            <a:off x="1828801" y="75303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NIDHITRACK – IDEA / SOLUTION</a:t>
            </a:r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143001"/>
            <a:ext cx="32918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1143001"/>
            <a:ext cx="3291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645051"/>
            <a:ext cx="3291840" cy="869908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393321" y="1755649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FaF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1" y="18580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7127" y="165995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Paper FDRs &amp; registers</a:t>
            </a:r>
            <a:r>
              <a:rPr lang="en-US" sz="1050" b="1" dirty="0"/>
              <a:t>
</a:t>
            </a:r>
            <a:r>
              <a:rPr lang="en-US" sz="1200" dirty="0"/>
              <a:t>Physical submission and manual entry cause </a:t>
            </a:r>
            <a:r>
              <a:rPr lang="en-US" sz="1200" b="1" u="sng" dirty="0"/>
              <a:t>duplicate data</a:t>
            </a:r>
            <a:r>
              <a:rPr lang="en-US" sz="1200" dirty="0"/>
              <a:t>; files get lost or misfiled</a:t>
            </a:r>
          </a:p>
        </p:txBody>
      </p:sp>
      <p:sp>
        <p:nvSpPr>
          <p:cNvPr id="9" name="Shape 6"/>
          <p:cNvSpPr/>
          <p:nvPr/>
        </p:nvSpPr>
        <p:spPr>
          <a:xfrm>
            <a:off x="322485" y="2658198"/>
            <a:ext cx="3239193" cy="863381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0" name="Shape 7"/>
          <p:cNvSpPr/>
          <p:nvPr/>
        </p:nvSpPr>
        <p:spPr>
          <a:xfrm>
            <a:off x="410584" y="280451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Fa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62" y="292521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32734" y="270482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Missed maturity / expiry</a:t>
            </a:r>
            <a:r>
              <a:rPr lang="en-US" sz="1050" b="1" dirty="0"/>
              <a:t>
</a:t>
            </a:r>
            <a:r>
              <a:rPr lang="en-US" sz="1200" b="1" u="sng" dirty="0"/>
              <a:t>Cover lapses </a:t>
            </a:r>
            <a:r>
              <a:rPr lang="en-US" sz="1200" dirty="0"/>
              <a:t>before anyone notices, leaving the department without valid security</a:t>
            </a:r>
          </a:p>
        </p:txBody>
      </p:sp>
      <p:sp>
        <p:nvSpPr>
          <p:cNvPr id="13" name="Shape 9"/>
          <p:cNvSpPr/>
          <p:nvPr/>
        </p:nvSpPr>
        <p:spPr>
          <a:xfrm>
            <a:off x="322485" y="3675888"/>
            <a:ext cx="3262040" cy="843820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384901" y="3822247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UserSecr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37" y="390004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24982" y="3707454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Fake or tampered FDRs</a:t>
            </a:r>
            <a:r>
              <a:rPr lang="en-US" sz="1050" b="1" dirty="0"/>
              <a:t>
</a:t>
            </a:r>
            <a:r>
              <a:rPr lang="en-US" sz="1200" dirty="0"/>
              <a:t>Hard to verify with the bank in time; </a:t>
            </a:r>
            <a:r>
              <a:rPr lang="en-US" sz="1200" b="1" u="sng" dirty="0"/>
              <a:t>forged or altered FDRs </a:t>
            </a:r>
            <a:r>
              <a:rPr lang="en-US" sz="1200" dirty="0"/>
              <a:t>can slip through</a:t>
            </a:r>
          </a:p>
        </p:txBody>
      </p:sp>
      <p:sp>
        <p:nvSpPr>
          <p:cNvPr id="17" name="Shape 12"/>
          <p:cNvSpPr/>
          <p:nvPr/>
        </p:nvSpPr>
        <p:spPr>
          <a:xfrm>
            <a:off x="322485" y="4695965"/>
            <a:ext cx="3274155" cy="883758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Shape 13"/>
          <p:cNvSpPr/>
          <p:nvPr/>
        </p:nvSpPr>
        <p:spPr>
          <a:xfrm>
            <a:off x="401334" y="4839203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mage 3" descr="FaHourglassHal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34" y="493603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29123" y="4741112"/>
            <a:ext cx="251460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Slow refunds</a:t>
            </a:r>
            <a:r>
              <a:rPr lang="en-US" sz="1050" b="1" dirty="0"/>
              <a:t>
</a:t>
            </a:r>
            <a:r>
              <a:rPr lang="en-US" sz="1200" dirty="0"/>
              <a:t>Vendors chase offices again and again; </a:t>
            </a:r>
            <a:r>
              <a:rPr lang="en-US" sz="1200" b="1" u="sng" dirty="0"/>
              <a:t>refunds are delayed </a:t>
            </a:r>
            <a:r>
              <a:rPr lang="en-US" sz="1200" dirty="0"/>
              <a:t>for months</a:t>
            </a:r>
          </a:p>
        </p:txBody>
      </p:sp>
      <p:sp>
        <p:nvSpPr>
          <p:cNvPr id="21" name="Shape 15"/>
          <p:cNvSpPr/>
          <p:nvPr/>
        </p:nvSpPr>
        <p:spPr>
          <a:xfrm>
            <a:off x="322485" y="5765598"/>
            <a:ext cx="3291840" cy="909523"/>
          </a:xfrm>
          <a:prstGeom prst="roundRect">
            <a:avLst>
              <a:gd name="adj" fmla="val 8889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16"/>
          <p:cNvSpPr/>
          <p:nvPr/>
        </p:nvSpPr>
        <p:spPr>
          <a:xfrm>
            <a:off x="411480" y="5950225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3" name="Image 4" descr="FaEyeSlas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509" y="6063306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24982" y="5806359"/>
            <a:ext cx="2514600" cy="83637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No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single live view</a:t>
            </a:r>
            <a:r>
              <a:rPr lang="en-US" sz="1050" b="1" dirty="0"/>
              <a:t>
</a:t>
            </a:r>
            <a:r>
              <a:rPr lang="en-US" sz="1200" dirty="0"/>
              <a:t>Officers </a:t>
            </a:r>
            <a:r>
              <a:rPr lang="en-US" sz="1200" b="1" u="sng" dirty="0"/>
              <a:t>cannot see status</a:t>
            </a:r>
            <a:r>
              <a:rPr lang="en-US" sz="1200" u="sng" dirty="0"/>
              <a:t> </a:t>
            </a:r>
            <a:r>
              <a:rPr lang="en-US" sz="1200" dirty="0"/>
              <a:t>or risk at a glance, so decisions are slow and reactive</a:t>
            </a:r>
          </a:p>
        </p:txBody>
      </p:sp>
      <p:sp>
        <p:nvSpPr>
          <p:cNvPr id="25" name="Shape 18"/>
          <p:cNvSpPr/>
          <p:nvPr/>
        </p:nvSpPr>
        <p:spPr>
          <a:xfrm>
            <a:off x="3794760" y="1143001"/>
            <a:ext cx="42062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3794760" y="1143001"/>
            <a:ext cx="4206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IDEA / SOLUTION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794760" y="1490472"/>
            <a:ext cx="4206240" cy="5195316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886201" y="1554480"/>
            <a:ext cx="40233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endParaRPr lang="en-US" sz="1400" b="1" dirty="0">
              <a:solidFill>
                <a:schemeClr val="accent1"/>
              </a:solidFill>
            </a:endParaRPr>
          </a:p>
          <a:p>
            <a:r>
              <a:rPr lang="en-US" sz="1400" b="1" dirty="0" err="1">
                <a:solidFill>
                  <a:schemeClr val="accent1"/>
                </a:solidFill>
              </a:rPr>
              <a:t>NidhiTrack</a:t>
            </a:r>
            <a:r>
              <a:rPr lang="en-US" sz="1200" dirty="0"/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end-to-end digital portal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that takes every security deposit / FDR from submission to verified lien, auto-monitoring, renewal and release – one workflow, one audit trail. It replaces paper files, registers and Excel sheets with one transparent system for contractors, officers, finance teams and auditors.</a:t>
            </a:r>
          </a:p>
        </p:txBody>
      </p:sp>
      <p:sp>
        <p:nvSpPr>
          <p:cNvPr id="29" name="Text 22"/>
          <p:cNvSpPr txBox="1"/>
          <p:nvPr/>
        </p:nvSpPr>
        <p:spPr>
          <a:xfrm>
            <a:off x="3886201" y="2695652"/>
            <a:ext cx="4097116" cy="39154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Key Features:</a:t>
            </a:r>
            <a:endParaRPr lang="en-US" sz="1600" dirty="0"/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eSign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 submission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of SD / EMD / FDR with DigiLocker documents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AI + OCR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checks flag duplicate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tampered or expired 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FDRs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Bank / e-FDR verification and digital lien marking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Auto alerts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at 90 / 60 / 30 / 7 days before maturity or expiry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Rule-based refund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release on contract completion, with SLA timers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Live dashboard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tamper-proof audit trail for officers and auditors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Role-based 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access for vendors, officers, finance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auditors, secured with 2FA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Configurable EMD / performance-security rules for each department</a:t>
            </a:r>
          </a:p>
          <a:p>
            <a:pPr marL="342901" indent="-342901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Bulk upload and OCR to digitise existing FDR registers</a:t>
            </a:r>
          </a:p>
        </p:txBody>
      </p:sp>
      <p:sp>
        <p:nvSpPr>
          <p:cNvPr id="30" name="Shape 23"/>
          <p:cNvSpPr/>
          <p:nvPr/>
        </p:nvSpPr>
        <p:spPr>
          <a:xfrm>
            <a:off x="8183881" y="1143001"/>
            <a:ext cx="370332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183881" y="1143001"/>
            <a:ext cx="3703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HOW NIDHITRACK ADDRESSES IT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183880" y="15544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18388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Paper FDR + registers</a:t>
            </a:r>
            <a:endParaRPr lang="en-US" sz="950" dirty="0"/>
          </a:p>
        </p:txBody>
      </p:sp>
      <p:pic>
        <p:nvPicPr>
          <p:cNvPr id="34" name="Image 5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1627632"/>
            <a:ext cx="219456" cy="21945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0149841" y="15544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10149841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Digital + eSign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8183880" y="20116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81838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Manual bank calls</a:t>
            </a:r>
            <a:endParaRPr lang="en-US" sz="950" dirty="0"/>
          </a:p>
        </p:txBody>
      </p:sp>
      <p:pic>
        <p:nvPicPr>
          <p:cNvPr id="39" name="Image 6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084832"/>
            <a:ext cx="219456" cy="219456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10149841" y="20116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10149841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API / OCR verify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8183880" y="24688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818388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Excel reminders</a:t>
            </a:r>
            <a:endParaRPr lang="en-US" sz="950" dirty="0"/>
          </a:p>
        </p:txBody>
      </p:sp>
      <p:pic>
        <p:nvPicPr>
          <p:cNvPr id="44" name="Image 7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542032"/>
            <a:ext cx="219456" cy="219456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10149841" y="24688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10149841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Auto alerts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8183880" y="29260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81838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Months to refund</a:t>
            </a:r>
            <a:endParaRPr lang="en-US" sz="950" dirty="0"/>
          </a:p>
        </p:txBody>
      </p:sp>
      <p:pic>
        <p:nvPicPr>
          <p:cNvPr id="49" name="Image 8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999232"/>
            <a:ext cx="219456" cy="219456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10149841" y="29260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10149841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Rule-based release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8183880" y="338328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3" name="Text 42"/>
          <p:cNvSpPr txBox="1"/>
          <p:nvPr/>
        </p:nvSpPr>
        <p:spPr>
          <a:xfrm>
            <a:off x="8183880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Scattered records</a:t>
            </a:r>
            <a:endParaRPr lang="en-US" sz="950" dirty="0"/>
          </a:p>
        </p:txBody>
      </p:sp>
      <p:pic>
        <p:nvPicPr>
          <p:cNvPr id="54" name="Image 9" descr="FaArrowRigh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3456432"/>
            <a:ext cx="219456" cy="219456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10149841" y="338328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E9E4F"/>
          </a:solidFill>
          <a:ln/>
        </p:spPr>
      </p:sp>
      <p:sp>
        <p:nvSpPr>
          <p:cNvPr id="56" name="Text 44"/>
          <p:cNvSpPr txBox="1"/>
          <p:nvPr/>
        </p:nvSpPr>
        <p:spPr>
          <a:xfrm>
            <a:off x="10149841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950" b="1" dirty="0">
                <a:solidFill>
                  <a:schemeClr val="bg1"/>
                </a:solidFill>
              </a:rPr>
              <a:t>Live dashboard</a:t>
            </a:r>
            <a:endParaRPr lang="en-US" sz="950" dirty="0"/>
          </a:p>
        </p:txBody>
      </p:sp>
      <p:sp>
        <p:nvSpPr>
          <p:cNvPr id="57" name="Shape 45"/>
          <p:cNvSpPr/>
          <p:nvPr/>
        </p:nvSpPr>
        <p:spPr>
          <a:xfrm>
            <a:off x="8183881" y="3931921"/>
            <a:ext cx="370332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8" name="Text 46"/>
          <p:cNvSpPr txBox="1"/>
          <p:nvPr/>
        </p:nvSpPr>
        <p:spPr>
          <a:xfrm>
            <a:off x="8183881" y="3931921"/>
            <a:ext cx="3703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UNIQUE VALUE PROPOSITION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8183880" y="43982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0" name="Image 10" descr="FaSyncAl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8372" y="4482756"/>
            <a:ext cx="215067" cy="215067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8641081" y="4370832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One portal, full lifecycle</a:t>
            </a:r>
            <a:r>
              <a:rPr lang="en-US" sz="11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: </a:t>
            </a:r>
            <a:r>
              <a:rPr lang="en-US" sz="1200" dirty="0"/>
              <a:t>Manage the entire FDR process in one portal</a:t>
            </a:r>
            <a:r>
              <a:rPr lang="en-US" sz="1100" b="1" dirty="0"/>
              <a:t>. </a:t>
            </a:r>
            <a:endParaRPr lang="en-US" sz="1100" dirty="0"/>
          </a:p>
        </p:txBody>
      </p:sp>
      <p:sp>
        <p:nvSpPr>
          <p:cNvPr id="62" name="Shape 49"/>
          <p:cNvSpPr/>
          <p:nvPr/>
        </p:nvSpPr>
        <p:spPr>
          <a:xfrm>
            <a:off x="8192171" y="5029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3" name="Image 11" descr="FaBel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6662" y="5089123"/>
            <a:ext cx="215067" cy="215067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8667660" y="4992625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Zero lapsed cover 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:</a:t>
            </a:r>
            <a:r>
              <a:rPr lang="en-US" sz="1050" b="1" dirty="0"/>
              <a:t> </a:t>
            </a:r>
            <a:r>
              <a:rPr lang="en-US" sz="1050" dirty="0"/>
              <a:t>N</a:t>
            </a:r>
            <a:r>
              <a:rPr lang="en-US" sz="1200" dirty="0"/>
              <a:t>ever miss a date-Automatic alerts ensure no FDR expires unnoticed</a:t>
            </a:r>
            <a:r>
              <a:rPr lang="en-US" sz="1050" b="1" dirty="0"/>
              <a:t>. </a:t>
            </a:r>
            <a:endParaRPr lang="en-US" sz="1050" dirty="0"/>
          </a:p>
        </p:txBody>
      </p:sp>
      <p:sp>
        <p:nvSpPr>
          <p:cNvPr id="65" name="Shape 51"/>
          <p:cNvSpPr/>
          <p:nvPr/>
        </p:nvSpPr>
        <p:spPr>
          <a:xfrm>
            <a:off x="8183880" y="5602796"/>
            <a:ext cx="384048" cy="46215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6" name="Image 12" descr="FaFingerprin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8856" y="5726339"/>
            <a:ext cx="215067" cy="215067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8652420" y="5576317"/>
            <a:ext cx="32461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Fraud-aware verification 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: </a:t>
            </a:r>
            <a:r>
              <a:rPr lang="en-US" sz="1200" dirty="0"/>
              <a:t>Detect fake , duplicate, or tempered FDRs.</a:t>
            </a:r>
          </a:p>
        </p:txBody>
      </p:sp>
      <p:sp>
        <p:nvSpPr>
          <p:cNvPr id="68" name="Shape 53"/>
          <p:cNvSpPr/>
          <p:nvPr/>
        </p:nvSpPr>
        <p:spPr>
          <a:xfrm>
            <a:off x="8213316" y="6216968"/>
            <a:ext cx="384048" cy="413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9" name="Image 13" descr="FaSitemap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1354" y="6269792"/>
            <a:ext cx="246126" cy="246126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8625176" y="6182869"/>
            <a:ext cx="3246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Open APIs:</a:t>
            </a:r>
            <a:r>
              <a:rPr lang="en-US" sz="1050" b="1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</a:t>
            </a:r>
            <a:r>
              <a:rPr lang="en-US" sz="1200" dirty="0"/>
              <a:t>e-procurement, PFMS, banks-Connect easily with e-procurement, PFMS, and banks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8162762-7A3A-4F1B-BF9E-D1655046D42D}"/>
              </a:ext>
            </a:extLst>
          </p:cNvPr>
          <p:cNvSpPr/>
          <p:nvPr/>
        </p:nvSpPr>
        <p:spPr>
          <a:xfrm>
            <a:off x="8483439" y="18288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0" y="-73986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TECHNICAL APPROACH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7FE1B7-5540-435D-915E-8469CADC6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428632"/>
              </p:ext>
            </p:extLst>
          </p:nvPr>
        </p:nvGraphicFramePr>
        <p:xfrm>
          <a:off x="86660" y="1222310"/>
          <a:ext cx="2777840" cy="5613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840">
                  <a:extLst>
                    <a:ext uri="{9D8B030D-6E8A-4147-A177-3AD203B41FA5}">
                      <a16:colId xmlns:a16="http://schemas.microsoft.com/office/drawing/2014/main" val="143898268"/>
                    </a:ext>
                  </a:extLst>
                </a:gridCol>
              </a:tblGrid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React + Typescript</a:t>
                      </a:r>
                    </a:p>
                    <a:p>
                      <a:r>
                        <a:rPr lang="en-US" sz="1800" dirty="0"/>
                        <a:t>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Frontend Portal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3792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Django + Python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Backend &amp; APIs</a:t>
                      </a:r>
                      <a:endParaRPr lang="en-US" sz="1600" dirty="0">
                        <a:latin typeface="Dutch801 XBd BT" panose="02020903060505020304" pitchFamily="18" charset="0"/>
                      </a:endParaRP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134088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PostgreSQL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FDR / Instrument Data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060801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S3 Object Storage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Secure Document Storage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2551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OCR (Tesseract)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Extract Data from </a:t>
                      </a: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Document                      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23699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 </a:t>
                      </a:r>
                      <a:r>
                        <a:rPr lang="en-US" sz="1600" dirty="0" err="1">
                          <a:latin typeface="Dutch801 XBd BT" panose="02020903060505020304" pitchFamily="18" charset="0"/>
                        </a:rPr>
                        <a:t>Keycloak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/ JWT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Authentication &amp;</a:t>
                      </a:r>
                    </a:p>
                    <a:p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 RBAC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401196"/>
                  </a:ext>
                </a:extLst>
              </a:tr>
              <a:tr h="778558">
                <a:tc>
                  <a:txBody>
                    <a:bodyPr/>
                    <a:lstStyle/>
                    <a:p>
                      <a:r>
                        <a:rPr lang="en-US" sz="1800" dirty="0"/>
                        <a:t>           </a:t>
                      </a:r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Docker + Nginx</a:t>
                      </a:r>
                    </a:p>
                    <a:p>
                      <a:r>
                        <a:rPr lang="en-US" sz="1600" dirty="0">
                          <a:latin typeface="Dutch801 XBd BT" panose="02020903060505020304" pitchFamily="18" charset="0"/>
                        </a:rPr>
                        <a:t>             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Deployment</a:t>
                      </a:r>
                      <a:endParaRPr lang="en-IN" sz="18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4979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38034E1-A8BB-4E9E-8B08-F592D1604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49412" y="1402145"/>
            <a:ext cx="610154" cy="5558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9D3A8A-75E8-46DD-BA45-C99890FD5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13" y="2153570"/>
            <a:ext cx="610154" cy="5558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BEC417-F88F-4C2E-894B-DDA34AB5B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14" y="2891716"/>
            <a:ext cx="610153" cy="625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5118B1-4C86-42FA-8BB8-DA938C3A6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49414" y="3713128"/>
            <a:ext cx="531434" cy="5314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D7F587-DB57-48DE-BEB7-0059C7DA7D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33" y="6187053"/>
            <a:ext cx="610155" cy="5367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AD80E8-AC02-4FB2-812A-7F6C6A39D2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414" y="4525233"/>
            <a:ext cx="645995" cy="5314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CEF641-A47A-4613-B92D-B8B44FA680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413" y="5333365"/>
            <a:ext cx="610154" cy="630561"/>
          </a:xfrm>
          <a:prstGeom prst="rect">
            <a:avLst/>
          </a:prstGeom>
        </p:spPr>
      </p:pic>
      <p:sp>
        <p:nvSpPr>
          <p:cNvPr id="125" name="Rectangle: Top Corners Rounded 124">
            <a:extLst>
              <a:ext uri="{FF2B5EF4-FFF2-40B4-BE49-F238E27FC236}">
                <a16:creationId xmlns:a16="http://schemas.microsoft.com/office/drawing/2014/main" id="{531CF5DC-93E9-452D-ABBC-BD1D297415E0}"/>
              </a:ext>
            </a:extLst>
          </p:cNvPr>
          <p:cNvSpPr/>
          <p:nvPr/>
        </p:nvSpPr>
        <p:spPr>
          <a:xfrm>
            <a:off x="59295" y="1029646"/>
            <a:ext cx="2106036" cy="26687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&lt;/&gt;Technology stack</a:t>
            </a:r>
            <a:endParaRPr lang="en-IN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DB7379-19AA-4279-83AC-610846C474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4500" y="1138518"/>
            <a:ext cx="9327500" cy="5719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FEASIBILITY AND VIABILITY</a:t>
            </a:r>
          </a:p>
        </p:txBody>
      </p:sp>
      <p:sp>
        <p:nvSpPr>
          <p:cNvPr id="3" name="Shape 1"/>
          <p:cNvSpPr/>
          <p:nvPr/>
        </p:nvSpPr>
        <p:spPr>
          <a:xfrm>
            <a:off x="365761" y="1143000"/>
            <a:ext cx="557784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1" y="114300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FEASIBILITY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1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FaCo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Proven building blocks </a:t>
            </a:r>
            <a:r>
              <a:rPr lang="en-US" sz="1200" b="1" dirty="0"/>
              <a:t>– </a:t>
            </a:r>
            <a:r>
              <a:rPr lang="en-US" sz="1200" dirty="0"/>
              <a:t>Web portal, OCR, eSign and SMS are mature, off-the-shelf tech, so the build relies on proven components rather than new research.</a:t>
            </a:r>
          </a:p>
        </p:txBody>
      </p:sp>
      <p:sp>
        <p:nvSpPr>
          <p:cNvPr id="9" name="Shape 6"/>
          <p:cNvSpPr/>
          <p:nvPr/>
        </p:nvSpPr>
        <p:spPr>
          <a:xfrm>
            <a:off x="365761" y="2404872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496312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1" name="Image 1" descr="FaUnivers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5968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Phased bank verification </a:t>
            </a:r>
            <a:r>
              <a:rPr lang="en-US" sz="1200" b="1" dirty="0"/>
              <a:t>– </a:t>
            </a:r>
            <a:r>
              <a:rPr lang="en-US" sz="1200" dirty="0"/>
              <a:t>Start with OCR + bank confirmation; move to bank APIs / e-FDR as banks onboard.</a:t>
            </a:r>
          </a:p>
        </p:txBody>
      </p:sp>
      <p:sp>
        <p:nvSpPr>
          <p:cNvPr id="13" name="Shape 9"/>
          <p:cNvSpPr/>
          <p:nvPr/>
        </p:nvSpPr>
        <p:spPr>
          <a:xfrm>
            <a:off x="350521" y="3118104"/>
            <a:ext cx="5593080" cy="621793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3209544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2" descr="Fa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31012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05840" y="3118104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Scheduler-driven alerts </a:t>
            </a:r>
            <a:r>
              <a:rPr lang="en-US" sz="1200" b="1" dirty="0"/>
              <a:t>– </a:t>
            </a:r>
            <a:r>
              <a:rPr lang="en-US" sz="1200" dirty="0"/>
              <a:t>Nightly jobs track every maturity and expiry date and trigger alerts at 90 / 60 / 30 / 7 days by SMS, email and WhatsApp.</a:t>
            </a:r>
          </a:p>
        </p:txBody>
      </p:sp>
      <p:sp>
        <p:nvSpPr>
          <p:cNvPr id="17" name="Shape 12"/>
          <p:cNvSpPr/>
          <p:nvPr/>
        </p:nvSpPr>
        <p:spPr>
          <a:xfrm>
            <a:off x="365761" y="3831336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8" name="Shape 13"/>
          <p:cNvSpPr/>
          <p:nvPr/>
        </p:nvSpPr>
        <p:spPr>
          <a:xfrm>
            <a:off x="421341" y="3863788"/>
            <a:ext cx="493059" cy="51618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3" descr="FaPla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02336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5840" y="3831336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Demonstrable MVP </a:t>
            </a:r>
            <a:r>
              <a:rPr lang="en-US" sz="1200" b="1" dirty="0"/>
              <a:t>– </a:t>
            </a:r>
            <a:r>
              <a:rPr lang="en-US" sz="1200" dirty="0"/>
              <a:t>Core flow: submit → verify → alert → release, demonstrable end to end with sample deposits and a live dashboard</a:t>
            </a:r>
            <a:r>
              <a:rPr lang="en-US" sz="1050" dirty="0"/>
              <a:t>.</a:t>
            </a:r>
          </a:p>
        </p:txBody>
      </p:sp>
      <p:sp>
        <p:nvSpPr>
          <p:cNvPr id="21" name="Shape 15"/>
          <p:cNvSpPr/>
          <p:nvPr/>
        </p:nvSpPr>
        <p:spPr>
          <a:xfrm>
            <a:off x="6263640" y="1143000"/>
            <a:ext cx="55778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263640" y="114300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VIABILITY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263640" y="1691640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24" name="Shape 18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5" name="Image 4" descr="FaBalanceSc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188366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0372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Fits existing rules </a:t>
            </a:r>
            <a:r>
              <a:rPr lang="en-US" sz="1200" b="1" dirty="0"/>
              <a:t>– </a:t>
            </a:r>
            <a:r>
              <a:rPr lang="en-US" sz="1200" dirty="0"/>
              <a:t>EMD / performance-security norms (GFR 2017) set as configurable rules, so each department can adapt limits and validity periods</a:t>
            </a:r>
            <a:r>
              <a:rPr lang="en-US" sz="1050" dirty="0"/>
              <a:t>.</a:t>
            </a:r>
          </a:p>
        </p:txBody>
      </p:sp>
      <p:sp>
        <p:nvSpPr>
          <p:cNvPr id="27" name="Shape 20"/>
          <p:cNvSpPr/>
          <p:nvPr/>
        </p:nvSpPr>
        <p:spPr>
          <a:xfrm>
            <a:off x="6263640" y="2404872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28" name="Shape 21"/>
          <p:cNvSpPr/>
          <p:nvPr/>
        </p:nvSpPr>
        <p:spPr>
          <a:xfrm>
            <a:off x="6355080" y="2496312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29" name="Image 5" descr="FaRupeeSig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2596896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90372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Low cost </a:t>
            </a:r>
            <a:r>
              <a:rPr lang="en-US" sz="1200" b="1" dirty="0"/>
              <a:t>– </a:t>
            </a:r>
            <a:r>
              <a:rPr lang="en-US" sz="1200" dirty="0"/>
              <a:t>Open-source stack (React, FastAPI, PostgreSQL) with no licence fees; cloud or on-prem hosting as the department prefers.</a:t>
            </a:r>
          </a:p>
        </p:txBody>
      </p:sp>
      <p:sp>
        <p:nvSpPr>
          <p:cNvPr id="31" name="Shape 23"/>
          <p:cNvSpPr/>
          <p:nvPr/>
        </p:nvSpPr>
        <p:spPr>
          <a:xfrm>
            <a:off x="6263640" y="3118104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32" name="Shape 24"/>
          <p:cNvSpPr/>
          <p:nvPr/>
        </p:nvSpPr>
        <p:spPr>
          <a:xfrm>
            <a:off x="6355080" y="3209544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3" name="Image 6" descr="FaSitem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5664" y="3310128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903720" y="3118104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Modular &amp; scalable </a:t>
            </a:r>
            <a:r>
              <a:rPr lang="en-US" sz="1200" b="1" dirty="0"/>
              <a:t>– </a:t>
            </a:r>
            <a:r>
              <a:rPr lang="en-US" sz="1200" dirty="0"/>
              <a:t>Per-department rules and plug-in APIs let new departments, banks and PSUs be added without redesign.</a:t>
            </a:r>
          </a:p>
        </p:txBody>
      </p:sp>
      <p:sp>
        <p:nvSpPr>
          <p:cNvPr id="35" name="Shape 26"/>
          <p:cNvSpPr/>
          <p:nvPr/>
        </p:nvSpPr>
        <p:spPr>
          <a:xfrm>
            <a:off x="6263640" y="3831336"/>
            <a:ext cx="5577840" cy="640080"/>
          </a:xfrm>
          <a:prstGeom prst="roundRect">
            <a:avLst>
              <a:gd name="adj" fmla="val 1142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36" name="Shape 27"/>
          <p:cNvSpPr/>
          <p:nvPr/>
        </p:nvSpPr>
        <p:spPr>
          <a:xfrm>
            <a:off x="6355080" y="3922776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pic>
        <p:nvPicPr>
          <p:cNvPr id="37" name="Image 7" descr="FaLo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5664" y="4023360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03720" y="3831336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Trust &amp; compliance </a:t>
            </a:r>
            <a:r>
              <a:rPr lang="en-US" sz="1200" b="1" dirty="0"/>
              <a:t>– </a:t>
            </a:r>
            <a:r>
              <a:rPr lang="en-US" sz="1200" dirty="0"/>
              <a:t>RBAC, 2FA, encryption in transit and at rest, hash-chained audit trail, DPDP Act-aligned consent and data handling.</a:t>
            </a:r>
          </a:p>
        </p:txBody>
      </p:sp>
      <p:sp>
        <p:nvSpPr>
          <p:cNvPr id="39" name="Shape 29"/>
          <p:cNvSpPr/>
          <p:nvPr/>
        </p:nvSpPr>
        <p:spPr>
          <a:xfrm>
            <a:off x="365760" y="4617720"/>
            <a:ext cx="11475720" cy="3657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182880" y="4608576"/>
            <a:ext cx="5577840" cy="36576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POTENTIAL CHALLENGES </a:t>
            </a:r>
            <a:endParaRPr lang="en-US" sz="1600" dirty="0"/>
          </a:p>
        </p:txBody>
      </p:sp>
      <p:sp>
        <p:nvSpPr>
          <p:cNvPr id="41" name="Text 31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OVERCOME METHODS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365760" y="5029200"/>
            <a:ext cx="5394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Banks may lack uniform APIs for FDR verification and lien marking; formats and response times differ from bank to bank.</a:t>
            </a:r>
            <a:endParaRPr lang="en-US" sz="1400" dirty="0"/>
          </a:p>
        </p:txBody>
      </p:sp>
      <p:pic>
        <p:nvPicPr>
          <p:cNvPr id="43" name="Image 8" descr="FaArrow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5111497"/>
            <a:ext cx="320040" cy="32004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263640" y="5029200"/>
            <a:ext cx="5577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Pluggable bank adapters with OCR + manual confirmation fallback; start with pilot banks and add more over time.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367553" y="5559553"/>
            <a:ext cx="5393166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Sensitive financial data and risk of insider misuse or unauthorised changes to deposit records.</a:t>
            </a:r>
            <a:endParaRPr lang="en-US" sz="1400" dirty="0"/>
          </a:p>
        </p:txBody>
      </p:sp>
      <p:pic>
        <p:nvPicPr>
          <p:cNvPr id="46" name="Image 9" descr="FaArrowRigh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5733287"/>
            <a:ext cx="320041" cy="320041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6263640" y="5650992"/>
            <a:ext cx="5577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/>
              <a:t>Role-based access, encryption, 2FA, maker-checker approvals and an immutable audit log.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1828801" y="182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IMPACT AND BENEFITS</a:t>
            </a:r>
          </a:p>
        </p:txBody>
      </p:sp>
      <p:sp>
        <p:nvSpPr>
          <p:cNvPr id="3" name="Shape 1"/>
          <p:cNvSpPr/>
          <p:nvPr/>
        </p:nvSpPr>
        <p:spPr>
          <a:xfrm>
            <a:off x="365761" y="1143000"/>
            <a:ext cx="3703320" cy="1645920"/>
          </a:xfrm>
          <a:prstGeom prst="rect">
            <a:avLst/>
          </a:prstGeom>
          <a:solidFill>
            <a:srgbClr val="DCE6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1" y="1143000"/>
            <a:ext cx="370332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CONTRACTORS &amp; VENDORS</a:t>
            </a:r>
            <a:endParaRPr lang="en-US" sz="1200" dirty="0"/>
          </a:p>
        </p:txBody>
      </p:sp>
      <p:pic>
        <p:nvPicPr>
          <p:cNvPr id="6" name="Image 0" descr="FaHard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16153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Submit online, track live and get refunds on time – no repeated office visits or lost FDRs. eSign, instant status updates and automatic reminders cut paperwork and follow-ups.</a:t>
            </a:r>
          </a:p>
        </p:txBody>
      </p:sp>
      <p:sp>
        <p:nvSpPr>
          <p:cNvPr id="8" name="Shape 5"/>
          <p:cNvSpPr/>
          <p:nvPr/>
        </p:nvSpPr>
        <p:spPr>
          <a:xfrm>
            <a:off x="4251961" y="1143000"/>
            <a:ext cx="3703320" cy="1645920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9" name="Shape 6"/>
          <p:cNvSpPr/>
          <p:nvPr/>
        </p:nvSpPr>
        <p:spPr>
          <a:xfrm>
            <a:off x="4251961" y="1143000"/>
            <a:ext cx="3703320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548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OFFICERS &amp; FINANCE</a:t>
            </a:r>
            <a:endParaRPr lang="en-US" sz="1200" dirty="0"/>
          </a:p>
        </p:txBody>
      </p:sp>
      <p:pic>
        <p:nvPicPr>
          <p:cNvPr id="11" name="Image 1" descr="FaUserTi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216153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35780" y="161036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One live view of every deposit: maturing, lapsed, under lien or ready to release. Verification, alerts and release run in one workflow, replacing manual registers and bank calls.</a:t>
            </a:r>
          </a:p>
        </p:txBody>
      </p:sp>
      <p:sp>
        <p:nvSpPr>
          <p:cNvPr id="13" name="Shape 9"/>
          <p:cNvSpPr/>
          <p:nvPr/>
        </p:nvSpPr>
        <p:spPr>
          <a:xfrm>
            <a:off x="8138160" y="1143000"/>
            <a:ext cx="3703320" cy="1645920"/>
          </a:xfrm>
          <a:prstGeom prst="rect">
            <a:avLst/>
          </a:prstGeom>
          <a:solidFill>
            <a:srgbClr val="DFF0E3"/>
          </a:solidFill>
          <a:ln/>
        </p:spPr>
      </p:sp>
      <p:sp>
        <p:nvSpPr>
          <p:cNvPr id="14" name="Shape 10"/>
          <p:cNvSpPr/>
          <p:nvPr/>
        </p:nvSpPr>
        <p:spPr>
          <a:xfrm>
            <a:off x="8138160" y="1143000"/>
            <a:ext cx="3703320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4108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GOVT &amp; AUDITORS</a:t>
            </a:r>
            <a:endParaRPr lang="en-US" sz="1200" dirty="0"/>
          </a:p>
        </p:txBody>
      </p:sp>
      <p:pic>
        <p:nvPicPr>
          <p:cNvPr id="16" name="Image 2" descr="FaLand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9" y="1216153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1600200"/>
            <a:ext cx="3520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dirty="0"/>
              <a:t>Standard, auditable deposit handling across departments – less leakage, stronger compliance. Tamper-proof logs and ready reports support audits and financial-rule checks.</a:t>
            </a:r>
          </a:p>
        </p:txBody>
      </p:sp>
      <p:sp>
        <p:nvSpPr>
          <p:cNvPr id="18" name="Shape 13"/>
          <p:cNvSpPr/>
          <p:nvPr/>
        </p:nvSpPr>
        <p:spPr>
          <a:xfrm>
            <a:off x="365761" y="2926081"/>
            <a:ext cx="557784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65761" y="2926081"/>
            <a:ext cx="5577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Potential Impact on the Target Audience</a:t>
            </a:r>
            <a:r>
              <a:rPr lang="en-US" sz="1200" b="1" dirty="0">
                <a:solidFill>
                  <a:schemeClr val="bg1"/>
                </a:solidFill>
              </a:rPr>
              <a:t>: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1" y="338328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0584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FASTER REFUNDS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Rule-based release with SLA timers cuts waiting time, so vendors get refunds without repeated follow-ups.</a:t>
            </a:r>
          </a:p>
        </p:txBody>
      </p:sp>
      <p:sp>
        <p:nvSpPr>
          <p:cNvPr id="24" name="Shape 19"/>
          <p:cNvSpPr/>
          <p:nvPr/>
        </p:nvSpPr>
        <p:spPr>
          <a:xfrm>
            <a:off x="365761" y="411480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120388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ZERO LAPSED COVER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Auto alerts at 90 / 60 / 30 / 7 days keep every deposit valid for the full contract period</a:t>
            </a:r>
            <a:r>
              <a:rPr lang="en-US" sz="1000" dirty="0"/>
              <a:t>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65761" y="484632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E8742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1005840" y="484632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REDUCED FRAUD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OCR + AI checks and </a:t>
            </a:r>
            <a:r>
              <a:rPr lang="en-US" sz="1200" b="1" u="sng" dirty="0"/>
              <a:t>bank confirmation flag fake</a:t>
            </a:r>
            <a:r>
              <a:rPr lang="en-US" sz="1200" dirty="0"/>
              <a:t>, tampered or duplicate FDRs before they are accepted.</a:t>
            </a:r>
          </a:p>
        </p:txBody>
      </p:sp>
      <p:sp>
        <p:nvSpPr>
          <p:cNvPr id="32" name="Shape 27"/>
          <p:cNvSpPr/>
          <p:nvPr/>
        </p:nvSpPr>
        <p:spPr>
          <a:xfrm>
            <a:off x="365761" y="557784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57200" y="5669280"/>
            <a:ext cx="457200" cy="457200"/>
          </a:xfrm>
          <a:prstGeom prst="ellipse">
            <a:avLst/>
          </a:prstGeom>
          <a:solidFill>
            <a:srgbClr val="7B4FA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45720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005840" y="557784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TRANSPARENT AUDIT</a:t>
            </a:r>
            <a:r>
              <a:rPr lang="en-US" sz="1150" b="1" dirty="0">
                <a:solidFill>
                  <a:schemeClr val="tx2"/>
                </a:solidFill>
              </a:rPr>
              <a:t>
</a:t>
            </a:r>
            <a:r>
              <a:rPr lang="en-US" sz="1200" dirty="0"/>
              <a:t>Every action is time-stamped, hash-chained and traceable, giving auditors a complete, unalterable history.</a:t>
            </a:r>
          </a:p>
        </p:txBody>
      </p:sp>
      <p:sp>
        <p:nvSpPr>
          <p:cNvPr id="36" name="Shape 31"/>
          <p:cNvSpPr/>
          <p:nvPr/>
        </p:nvSpPr>
        <p:spPr>
          <a:xfrm>
            <a:off x="6172201" y="2926081"/>
            <a:ext cx="5715000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172201" y="2926081"/>
            <a:ext cx="5715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Benefits of the Solution</a:t>
            </a:r>
            <a:r>
              <a:rPr lang="en-US" sz="1200" b="1" dirty="0">
                <a:solidFill>
                  <a:schemeClr val="bg1"/>
                </a:solidFill>
              </a:rPr>
              <a:t>: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172200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CE6F5"/>
          </a:solidFill>
          <a:ln/>
        </p:spPr>
      </p:sp>
      <p:pic>
        <p:nvPicPr>
          <p:cNvPr id="39" name="Image 3" descr="FaClo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493008"/>
            <a:ext cx="329184" cy="32918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66751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Time Saved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6263640" y="3858769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b="1" u="sng" dirty="0"/>
              <a:t>Verification in minutes</a:t>
            </a:r>
            <a:r>
              <a:rPr lang="en-US" sz="1100" dirty="0"/>
              <a:t>, not days (pilot target); less manual entry and fewer office visits.</a:t>
            </a:r>
          </a:p>
        </p:txBody>
      </p:sp>
      <p:sp>
        <p:nvSpPr>
          <p:cNvPr id="42" name="Shape 36"/>
          <p:cNvSpPr/>
          <p:nvPr/>
        </p:nvSpPr>
        <p:spPr>
          <a:xfrm>
            <a:off x="9052561" y="3383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FF0E3"/>
          </a:solidFill>
          <a:ln/>
        </p:spPr>
      </p:sp>
      <p:pic>
        <p:nvPicPr>
          <p:cNvPr id="43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3493008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95554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Trust</a:t>
            </a:r>
            <a:endParaRPr lang="en-US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9144001" y="3858769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Tamper-proof audit trail, role-based access and encryption build confidence for all parties.</a:t>
            </a:r>
          </a:p>
        </p:txBody>
      </p:sp>
      <p:sp>
        <p:nvSpPr>
          <p:cNvPr id="46" name="Shape 39"/>
          <p:cNvSpPr/>
          <p:nvPr/>
        </p:nvSpPr>
        <p:spPr>
          <a:xfrm>
            <a:off x="6172200" y="44805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/>
        </p:spPr>
      </p:sp>
      <p:pic>
        <p:nvPicPr>
          <p:cNvPr id="47" name="Image 5" descr="FaRupeeSig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4590288"/>
            <a:ext cx="329184" cy="329184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667512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Low Cost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6263640" y="495604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Open-source</a:t>
            </a:r>
            <a:r>
              <a:rPr lang="en-US" sz="1100" b="1" u="sng" dirty="0"/>
              <a:t>, low run cost</a:t>
            </a:r>
            <a:r>
              <a:rPr lang="en-US" sz="1100" dirty="0"/>
              <a:t>; no licence fees and modest cloud or on-prem hosting needs.</a:t>
            </a:r>
          </a:p>
        </p:txBody>
      </p:sp>
      <p:sp>
        <p:nvSpPr>
          <p:cNvPr id="50" name="Shape 42"/>
          <p:cNvSpPr/>
          <p:nvPr/>
        </p:nvSpPr>
        <p:spPr>
          <a:xfrm>
            <a:off x="9052561" y="44805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BE0F3"/>
          </a:solidFill>
          <a:ln/>
        </p:spPr>
      </p:sp>
      <p:pic>
        <p:nvPicPr>
          <p:cNvPr id="51" name="Image 6" descr="FaSitema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2288" y="4590288"/>
            <a:ext cx="329184" cy="329184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960120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Scalable</a:t>
            </a:r>
            <a:endParaRPr lang="en-US" sz="1400" dirty="0"/>
          </a:p>
        </p:txBody>
      </p:sp>
      <p:sp>
        <p:nvSpPr>
          <p:cNvPr id="53" name="Text 44"/>
          <p:cNvSpPr txBox="1"/>
          <p:nvPr/>
        </p:nvSpPr>
        <p:spPr>
          <a:xfrm>
            <a:off x="9144001" y="4956048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sz="1100" dirty="0"/>
              <a:t>Any department or PSU; per-department rules and plug-in APIs make rollout easy.</a:t>
            </a:r>
          </a:p>
        </p:txBody>
      </p:sp>
      <p:sp>
        <p:nvSpPr>
          <p:cNvPr id="54" name="Shape 45"/>
          <p:cNvSpPr/>
          <p:nvPr/>
        </p:nvSpPr>
        <p:spPr>
          <a:xfrm>
            <a:off x="6172200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0070C0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6172200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SUBMIT &amp; VERIFY</a:t>
            </a:r>
            <a:endParaRPr lang="en-US" sz="1050" dirty="0"/>
          </a:p>
        </p:txBody>
      </p:sp>
      <p:sp>
        <p:nvSpPr>
          <p:cNvPr id="56" name="Shape 47"/>
          <p:cNvSpPr/>
          <p:nvPr/>
        </p:nvSpPr>
        <p:spPr>
          <a:xfrm>
            <a:off x="8156449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E8742A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156449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AUTO MONITORING</a:t>
            </a:r>
            <a:endParaRPr lang="en-US" sz="1050" dirty="0"/>
          </a:p>
        </p:txBody>
      </p:sp>
      <p:sp>
        <p:nvSpPr>
          <p:cNvPr id="58" name="Shape 49"/>
          <p:cNvSpPr/>
          <p:nvPr/>
        </p:nvSpPr>
        <p:spPr>
          <a:xfrm>
            <a:off x="10140697" y="562356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2E9E4F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10140697" y="5623560"/>
            <a:ext cx="1783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FAST, FAIR RELEASE</a:t>
            </a:r>
            <a:endParaRPr lang="en-US" sz="1050" dirty="0"/>
          </a:p>
        </p:txBody>
      </p:sp>
      <p:pic>
        <p:nvPicPr>
          <p:cNvPr id="60" name="Image 7" descr="FaArrowRigh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1" y="5806441"/>
            <a:ext cx="201168" cy="201168"/>
          </a:xfrm>
          <a:prstGeom prst="rect">
            <a:avLst/>
          </a:prstGeom>
        </p:spPr>
      </p:pic>
      <p:pic>
        <p:nvPicPr>
          <p:cNvPr id="61" name="Image 8" descr="FaArrowRigh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9529" y="5806441"/>
            <a:ext cx="201168" cy="201168"/>
          </a:xfrm>
          <a:prstGeom prst="rect">
            <a:avLst/>
          </a:prstGeom>
        </p:spPr>
      </p:pic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1" y="6382512"/>
            <a:ext cx="54864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6">
            <a:extLst>
              <a:ext uri="{FF2B5EF4-FFF2-40B4-BE49-F238E27FC236}">
                <a16:creationId xmlns:a16="http://schemas.microsoft.com/office/drawing/2014/main" id="{F1EA65EB-7E7B-4EE6-8B59-A616B5938B7B}"/>
              </a:ext>
            </a:extLst>
          </p:cNvPr>
          <p:cNvSpPr/>
          <p:nvPr/>
        </p:nvSpPr>
        <p:spPr>
          <a:xfrm>
            <a:off x="3645770" y="6209535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r>
              <a:rPr lang="en-US" dirty="0"/>
              <a:t>         </a:t>
            </a:r>
            <a:endParaRPr lang="en-IN" dirty="0"/>
          </a:p>
        </p:txBody>
      </p:sp>
      <p:sp>
        <p:nvSpPr>
          <p:cNvPr id="2" name="Text 3"/>
          <p:cNvSpPr>
            <a:spLocks noGrp="1"/>
          </p:cNvSpPr>
          <p:nvPr>
            <p:ph type="title" idx="104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/>
              <a:t>RESEARCH AND REFERENCES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a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4923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116332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General Financial Rules, 2017 (Rules 170–171)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Earnest money deposit and performance security norms – Dept. of Expenditure, MoF. Basis for our configurable deposit rules.</a:t>
            </a:r>
          </a:p>
        </p:txBody>
      </p:sp>
      <p:sp>
        <p:nvSpPr>
          <p:cNvPr id="7" name="Shape 4"/>
          <p:cNvSpPr/>
          <p:nvPr/>
        </p:nvSpPr>
        <p:spPr>
          <a:xfrm>
            <a:off x="365760" y="219456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FaFileContra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4981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Manual for Procurement of Works, 2022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Bid security and performance security practice for public works. Guides the validity and release rules in our workflow.</a:t>
            </a:r>
          </a:p>
        </p:txBody>
      </p:sp>
      <p:sp>
        <p:nvSpPr>
          <p:cNvPr id="11" name="Shape 7"/>
          <p:cNvSpPr/>
          <p:nvPr/>
        </p:nvSpPr>
        <p:spPr>
          <a:xfrm>
            <a:off x="365760" y="3200401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" y="3383281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FaRupeeSig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5039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200401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PFMS – Public Financial Management System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Controller General of Accounts; target for refund / payment integration, enabling direct and traceable refunds to vendors.</a:t>
            </a:r>
          </a:p>
        </p:txBody>
      </p:sp>
      <p:sp>
        <p:nvSpPr>
          <p:cNvPr id="15" name="Shape 10"/>
          <p:cNvSpPr/>
          <p:nvPr/>
        </p:nvSpPr>
        <p:spPr>
          <a:xfrm>
            <a:off x="365760" y="4206240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FaFileSigna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1" y="45098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4206240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Aadhaar eSign &amp; DigiLocker (MeitY)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Paperless signing and document fetch for submissions. Removes physical forms and speeds up onboarding.</a:t>
            </a:r>
          </a:p>
        </p:txBody>
      </p:sp>
      <p:sp>
        <p:nvSpPr>
          <p:cNvPr id="19" name="Shape 13"/>
          <p:cNvSpPr/>
          <p:nvPr/>
        </p:nvSpPr>
        <p:spPr>
          <a:xfrm>
            <a:off x="365760" y="5212081"/>
            <a:ext cx="56692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457200" y="5394961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Fa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01" y="551566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5212081"/>
            <a:ext cx="48463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Digital Personal Data Protection Act, 2023</a:t>
            </a:r>
            <a:r>
              <a:rPr lang="en-US" sz="1100" b="1" dirty="0">
                <a:solidFill>
                  <a:schemeClr val="tx2"/>
                </a:solidFill>
              </a:rPr>
              <a:t>
</a:t>
            </a:r>
            <a:r>
              <a:rPr lang="en-US" sz="1400" dirty="0"/>
              <a:t>Consent and data-handling principles for user and financial data. Shapes our access control, encryption and retention design.</a:t>
            </a:r>
          </a:p>
        </p:txBody>
      </p:sp>
      <p:sp>
        <p:nvSpPr>
          <p:cNvPr id="23" name="Shape 16"/>
          <p:cNvSpPr/>
          <p:nvPr/>
        </p:nvSpPr>
        <p:spPr>
          <a:xfrm>
            <a:off x="74945" y="6226253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r>
              <a:rPr lang="en-US" dirty="0"/>
              <a:t>     </a:t>
            </a:r>
            <a:r>
              <a:rPr lang="en-US" dirty="0">
                <a:hlinkClick r:id="rId8"/>
              </a:rPr>
              <a:t>https://youtu.be/t8PlSEE-2ro</a:t>
            </a:r>
            <a:endParaRPr lang="en-IN" sz="1400" dirty="0"/>
          </a:p>
          <a:p>
            <a:r>
              <a:rPr lang="en-US" sz="1400" dirty="0"/>
              <a:t> </a:t>
            </a:r>
            <a:r>
              <a:rPr lang="en-IN" sz="1400" dirty="0"/>
              <a:t>                        (</a:t>
            </a:r>
            <a:r>
              <a:rPr lang="en-IN" sz="1400" dirty="0" err="1"/>
              <a:t>ctrl+click</a:t>
            </a:r>
            <a:r>
              <a:rPr lang="en-IN" sz="1400" dirty="0"/>
              <a:t>)</a:t>
            </a:r>
          </a:p>
        </p:txBody>
      </p:sp>
      <p:pic>
        <p:nvPicPr>
          <p:cNvPr id="24" name="Image 5" descr="FaYoutub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870" y="6292901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702552" y="1178860"/>
            <a:ext cx="3063240" cy="5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pic>
        <p:nvPicPr>
          <p:cNvPr id="33" name="Image 8" descr="FaFolderOpe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4225" y="6400800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881361" y="132588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/>
              <a:t>Project Docs
</a:t>
            </a:r>
            <a:r>
              <a:rPr lang="en-US" sz="750" dirty="0">
                <a:solidFill>
                  <a:schemeClr val="accent1"/>
                </a:solidFill>
              </a:rPr>
              <a:t>(add link)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93187"/>
              </p:ext>
            </p:extLst>
          </p:nvPr>
        </p:nvGraphicFramePr>
        <p:xfrm>
          <a:off x="6248402" y="1112525"/>
          <a:ext cx="5746375" cy="4937756"/>
        </p:xfrm>
        <a:graphic>
          <a:graphicData uri="http://schemas.openxmlformats.org/drawingml/2006/table">
            <a:tbl>
              <a:tblPr/>
              <a:tblGrid>
                <a:gridCol w="171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OTHERS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NIDHITRACK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Submission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Paper / email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Online + eSign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FDR check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Manual bank calls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OCR + AI flags, bank API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Tracking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Excel / registers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Auto alerts at 90/60/30/7 days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Release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File-by-file approvals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Rule-based workflow + SLA timers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Audit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Editable records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Hash-chained, tamper-proof log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Visibility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Scattered files, no single view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Live dashboard for every role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6440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Fraud risk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Found late or not at all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Flagged at submission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</a:tbl>
          </a:graphicData>
        </a:graphic>
      </p:graphicFrame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9F0A27-3912-45B3-AA6F-C3ED18E3FE6B}"/>
              </a:ext>
            </a:extLst>
          </p:cNvPr>
          <p:cNvSpPr/>
          <p:nvPr/>
        </p:nvSpPr>
        <p:spPr>
          <a:xfrm>
            <a:off x="7449132" y="6156966"/>
            <a:ext cx="4633319" cy="64008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hlinkClick r:id="rId11"/>
              </a:rPr>
              <a:t>         https://github.com/ARULANANTHANR/NITHITRACK</a:t>
            </a:r>
            <a:endParaRPr lang="en-IN" sz="1200" dirty="0">
              <a:solidFill>
                <a:schemeClr val="tx1"/>
              </a:solidFill>
            </a:endParaRP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(</a:t>
            </a:r>
            <a:r>
              <a:rPr lang="en-IN" sz="1200" dirty="0" err="1">
                <a:solidFill>
                  <a:schemeClr val="tx1"/>
                </a:solidFill>
              </a:rPr>
              <a:t>ctrl+click</a:t>
            </a:r>
            <a:r>
              <a:rPr lang="en-IN" sz="12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30" name="Picture 6" descr="GitHub logo black and white minimalist flat icon 79879410 PNG">
            <a:extLst>
              <a:ext uri="{FF2B5EF4-FFF2-40B4-BE49-F238E27FC236}">
                <a16:creationId xmlns:a16="http://schemas.microsoft.com/office/drawing/2014/main" id="{DE5869E6-BCD4-4BB4-9F5C-B815532D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132" y="6145569"/>
            <a:ext cx="717177" cy="65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42024E1-3351-4B63-B770-D8CEB1763085}"/>
              </a:ext>
            </a:extLst>
          </p:cNvPr>
          <p:cNvSpPr txBox="1"/>
          <p:nvPr/>
        </p:nvSpPr>
        <p:spPr>
          <a:xfrm flipH="1">
            <a:off x="4646769" y="6336836"/>
            <a:ext cx="242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13"/>
              </a:rPr>
              <a:t>Project Documents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H NidhiTrack">
  <a:themeElements>
    <a:clrScheme name="SIH NidhiTrack">
      <a:dk1>
        <a:srgbClr val="1A1A1A"/>
      </a:dk1>
      <a:lt1>
        <a:srgbClr val="FFFFFF"/>
      </a:lt1>
      <a:dk2>
        <a:srgbClr val="1F4E79"/>
      </a:dk2>
      <a:lt2>
        <a:srgbClr val="EAF1F8"/>
      </a:lt2>
      <a:accent1>
        <a:srgbClr val="0070C0"/>
      </a:accent1>
      <a:accent2>
        <a:srgbClr val="2E9E4F"/>
      </a:accent2>
      <a:accent3>
        <a:srgbClr val="E8742A"/>
      </a:accent3>
      <a:accent4>
        <a:srgbClr val="7B4FA3"/>
      </a:accent4>
      <a:accent5>
        <a:srgbClr val="C0392B"/>
      </a:accent5>
      <a:accent6>
        <a:srgbClr val="F2B632"/>
      </a:accent6>
      <a:hlink>
        <a:srgbClr val="0070C0"/>
      </a:hlink>
      <a:folHlink>
        <a:srgbClr val="7B4FA3"/>
      </a:folHlink>
    </a:clrScheme>
    <a:fontScheme name="SIH NidhiTrack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685</TotalTime>
  <Words>1281</Words>
  <Application>Microsoft Office PowerPoint</Application>
  <PresentationFormat>Widescreen</PresentationFormat>
  <Paragraphs>154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Artifakt Element Black</vt:lpstr>
      <vt:lpstr>Artifakt Element Heavy</vt:lpstr>
      <vt:lpstr>Calibri</vt:lpstr>
      <vt:lpstr>Cambria Math</vt:lpstr>
      <vt:lpstr>Dutch801 XBd BT</vt:lpstr>
      <vt:lpstr>Times New Roman</vt:lpstr>
      <vt:lpstr>SIH NidhiTrack</vt:lpstr>
      <vt:lpstr>SMART INDIA HACKATHON 2026</vt:lpstr>
      <vt:lpstr>NIDHITRACK – IDEA / SOLUTION</vt:lpstr>
      <vt:lpstr>TECHNICAL APPROACH</vt:lpstr>
      <vt:lpstr>FEASIBILITY AND VIABILITY</vt:lpstr>
      <vt:lpstr>IMPACT AND BENEFITS</vt:lpstr>
      <vt:lpstr>RESEARCH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65</cp:revision>
  <dcterms:created xsi:type="dcterms:W3CDTF">2026-10-23T05:01:58Z</dcterms:created>
  <dcterms:modified xsi:type="dcterms:W3CDTF">2026-10-27T17:11:18Z</dcterms:modified>
</cp:coreProperties>
</file>